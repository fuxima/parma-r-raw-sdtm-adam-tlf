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147375140" r:id="rId2"/>
    <p:sldId id="2147375141" r:id="rId3"/>
    <p:sldId id="395" r:id="rId4"/>
    <p:sldId id="2147375142" r:id="rId5"/>
    <p:sldId id="421" r:id="rId6"/>
    <p:sldId id="422" r:id="rId7"/>
    <p:sldId id="423" r:id="rId8"/>
    <p:sldId id="424" r:id="rId9"/>
    <p:sldId id="431" r:id="rId10"/>
    <p:sldId id="2147375134" r:id="rId11"/>
    <p:sldId id="2147375138" r:id="rId12"/>
    <p:sldId id="2147375146" r:id="rId13"/>
    <p:sldId id="2147375144" r:id="rId14"/>
    <p:sldId id="2147375145" r:id="rId15"/>
    <p:sldId id="2147375148" r:id="rId16"/>
    <p:sldId id="2147375137" r:id="rId17"/>
    <p:sldId id="2147375147" r:id="rId18"/>
    <p:sldId id="429" r:id="rId19"/>
    <p:sldId id="2147375149" r:id="rId20"/>
    <p:sldId id="428" r:id="rId2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6652" autoAdjust="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35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78ED946-4A02-4588-B79C-14D38AF0431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AAF6644-A4CE-4154-B543-AD992E27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3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E0FD1-F569-23A8-7BB9-7086C99C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B0785-6E97-DE7B-7BC9-F940EC26E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C29C8-D88F-61E5-A06E-BE4DD7B4B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74529-3CF7-2205-1811-0D4269666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F6644-A4CE-4154-B543-AD992E27A4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03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BD8BD-C9B3-F976-76EF-6DFDC722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883DC-E5BB-1ACF-74EE-BAA42AE62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348FE-1B34-0F7F-DB88-F8218020C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6068B-3C1A-4695-A773-676E8EF03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F6644-A4CE-4154-B543-AD992E27A4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25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83B5-CBA7-9BB5-02EE-AFFB156A2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FA8D4-D8A2-7DAE-0F92-274901163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6371E-97AD-F4B9-9C10-560C48997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6475C-BE7F-9FFE-27C7-04DD3FC24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F6644-A4CE-4154-B543-AD992E27A4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24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A4C9E-FFA0-1933-BE8D-7708B1A9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9DF86-5349-AE71-0B24-DFA837159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79CD6-0B7D-5529-2637-A0AAB829B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8773F-A9BB-9362-5E2B-B08A78D97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F6644-A4CE-4154-B543-AD992E27A4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94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560E9-F1BC-2975-ACA2-FD18E8ECE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7B024-00A2-A6BF-2B01-2D2A75AE6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D65C9-4D87-F819-5737-5792D1FFE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96851-FE0E-D578-3CBB-B96CABD03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F6644-A4CE-4154-B543-AD992E27A4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51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8FD9-ACA4-2297-61B9-27E1E2501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BEDD3-C96C-77A0-4F12-647785651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2D75-409E-8042-8ED3-27A6BB7D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CA3ED-AA40-4AEA-9326-784310BA0EF2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D552B-8E82-5752-DDD8-F6A0C1E6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6EC9C-02F9-77E9-B41E-31E1789E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5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3D15-3CEF-FFEF-D547-C6449002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DC677-852E-7172-3245-EB1D9F869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40003-A669-F496-2D64-D939ACAAE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3BC1-5145-4387-86AC-C61DD0C657B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8A06E-453D-8A72-0B05-BED2B1DB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B6A8B-98CA-6EFC-B122-7086FDA08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1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4833-FD01-5D8C-08F1-9E9F6CA5A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49DF9-6FA3-6281-440F-475FD5A63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FE361-74C6-D9E5-40A2-BD99F9BC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6F94D-36D0-470F-BC28-26AFB0B2766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B996E-7397-8EE1-50E0-688C751B8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C4D69-CF29-0A0A-0513-A4585B5B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4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18E03-E6F1-480B-C4F7-3C68ADB2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6209C-A94F-0675-3BF6-7A9F52FF5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FDBBD-FBEE-8C8C-D058-20EE8C6CA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30C8E-41DA-6F1E-FFB1-6027815DB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A0025-A2FF-4AE8-BF40-9BC2B6F252D2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EF486-C3CC-7E59-4490-E1B70D84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598AB-EA4F-49F1-B672-AF9E32C29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48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51925-8C63-6D24-5627-9D393E66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EAFBB-6C5E-89ED-18B9-FBF49572A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694A1-0EAE-21B7-D2B2-437E71643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78F122-60FE-9A19-D28D-4BD6D4EF3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05356-54DA-49CA-6635-BEA000A50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7890CC-914B-D291-21AB-1B2519240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C7D0D-9F9E-4566-9F94-A03209808418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0406EE-25DF-1648-79F1-0D575A287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6B9CB0-767C-0C88-9E06-51DF9F56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9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24F8-F817-2819-14EF-E888F185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0D42D-672C-51DB-D40B-D041171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2F295-AE79-4BBD-AD78-DE9AF92CFC65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4FCE7-5E41-4EBB-A762-775723D0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AF5CF-B141-A677-B656-8124F74E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5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4DE80-53D6-516C-DF81-3555CDE2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1F52-9DF8-4FCD-AFF8-7FBFC7C17FD8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54D04F-6508-33B4-A99A-16DA71E0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48612-08D6-7923-D31B-7B14A60C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13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6597-242F-6CB3-26F4-DAE634D55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4B87-C0DA-8AFF-13D5-D0E6D1F8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52613-9329-56A4-0376-D0665B62F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BB607-9AF6-DCEA-D287-E70FAC4C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CDB-3C38-4BC5-AE9A-A0B5E4DAB29F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AFA74-CA04-BEEE-D5D8-6C0AD4F77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76EFE-9ED8-6438-B127-43346594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8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EB1F-2BC2-CED9-046B-369FE54B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B8E7E-B9CC-42E9-4BFF-04F5A177E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E6376-272A-9E4B-8FA8-D51038C4F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0367C-0A43-ED64-076F-87F7D9120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A3FA4-082A-42D3-BF9B-E10CF3EF430A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AD351-0215-1F2F-4C06-498E89E4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123AD-6DD8-F7CE-1A8C-F50CAF5A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24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31D9-0F9D-09DA-D642-706490C73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8170F-0E8F-6DE9-14D8-E730C8AA2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129D8-36D4-6172-D1E1-7458BAEFD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C57ED-D25C-4E2A-866C-486A3AB54218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5FC4A-8640-D023-7D1B-02B6BCCF3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7B143-47EB-8A4C-06EB-9F2B0393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27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5DEBFE-57DE-56F6-B4CA-3BC339CF9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B803A-7AA9-D62F-FD8B-64FF8ABBE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13C1B-0D78-383C-5C88-45D48F2D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FBCEC-0939-4499-BF2B-143579A5B53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33A66-6C05-F6FF-266F-22C81C2A6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127B5-72E4-369E-3799-3227CF7A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74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70685-146E-FCA6-250E-1B8DB39A7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75EBD-974F-99EE-59F9-D2A504068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EA47F-CE5D-C778-0B4D-5DFBA7705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A19D6-06A5-488D-90A9-7C4BAD8EE78E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3E24E-F789-5884-D5D4-AB38286A7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F6FB8-3CFB-B882-83F5-C0426D2AA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9FCB3-37CC-4DC3-9641-7B88AD2FD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7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harmaverse/pharmaversesdtm" TargetMode="External"/><Relationship Id="rId13" Type="http://schemas.openxmlformats.org/officeDocument/2006/relationships/hyperlink" Target="https://github.com/R4SUB" TargetMode="External"/><Relationship Id="rId18" Type="http://schemas.openxmlformats.org/officeDocument/2006/relationships/hyperlink" Target="https://github.com/pharmaverse/end_to_end_examples" TargetMode="External"/><Relationship Id="rId3" Type="http://schemas.openxmlformats.org/officeDocument/2006/relationships/hyperlink" Target="https://library.cdisc.org/browser/#/mdr/sdtmig/3-4/classes/GeneralObservations" TargetMode="External"/><Relationship Id="rId7" Type="http://schemas.openxmlformats.org/officeDocument/2006/relationships/hyperlink" Target="https://github.com/pharmaverse/metatools" TargetMode="External"/><Relationship Id="rId12" Type="http://schemas.openxmlformats.org/officeDocument/2006/relationships/hyperlink" Target="https://pharmaverse.github.io/cardinal/" TargetMode="External"/><Relationship Id="rId17" Type="http://schemas.openxmlformats.org/officeDocument/2006/relationships/hyperlink" Target="https://github.com/pharmaverse/intro-to-r-for-sas-programmers-workshop" TargetMode="External"/><Relationship Id="rId2" Type="http://schemas.openxmlformats.org/officeDocument/2006/relationships/hyperlink" Target="https://pharmaverse.org/" TargetMode="External"/><Relationship Id="rId16" Type="http://schemas.openxmlformats.org/officeDocument/2006/relationships/hyperlink" Target="https://www.youtube.com/@RinPharma" TargetMode="External"/><Relationship Id="rId20" Type="http://schemas.openxmlformats.org/officeDocument/2006/relationships/hyperlink" Target="https://github.com/pharmaverse/pharmaversera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harmaverse/admiraltemplate" TargetMode="External"/><Relationship Id="rId11" Type="http://schemas.openxmlformats.org/officeDocument/2006/relationships/hyperlink" Target="https://github.com/pharmaverse/tealworkshop-phusecss2025" TargetMode="External"/><Relationship Id="rId5" Type="http://schemas.openxmlformats.org/officeDocument/2006/relationships/hyperlink" Target="https://github.com/pharmaverse/admiral" TargetMode="External"/><Relationship Id="rId15" Type="http://schemas.openxmlformats.org/officeDocument/2006/relationships/hyperlink" Target="https://pharmaverse.r-universe.dev/pharmaversesdtm#:~:text=Lina%20Patil-,pharmaversesdtm:%20SDTM%20Test%20Data%20for%20the%20'Pharmaverse'%20Family%20of,.cdisc.org/%3E" TargetMode="External"/><Relationship Id="rId10" Type="http://schemas.openxmlformats.org/officeDocument/2006/relationships/hyperlink" Target="https://github.com/pharmaverse/sdtm.oak-workshop" TargetMode="External"/><Relationship Id="rId19" Type="http://schemas.openxmlformats.org/officeDocument/2006/relationships/hyperlink" Target="https://github.com/pharmaverse/examples" TargetMode="External"/><Relationship Id="rId4" Type="http://schemas.openxmlformats.org/officeDocument/2006/relationships/hyperlink" Target="https://github.com/pharmaverse/pharmaverse" TargetMode="External"/><Relationship Id="rId9" Type="http://schemas.openxmlformats.org/officeDocument/2006/relationships/hyperlink" Target="https://github.com/pharmaverse/sdtmchecks" TargetMode="External"/><Relationship Id="rId14" Type="http://schemas.openxmlformats.org/officeDocument/2006/relationships/hyperlink" Target="https://pharmaverse.github.io/blog/posts/2025-07-07_pharmaverse/pharmaverseraw__packag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2F5EF-FF7A-D825-C0E2-32673434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3A054F3-E26D-246C-E1D5-5A7B4B997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E8F6682-E3F5-9950-6B26-96F4CA8E0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24095-E96F-10F4-C2B9-E10B7552497D}"/>
              </a:ext>
            </a:extLst>
          </p:cNvPr>
          <p:cNvSpPr txBox="1">
            <a:spLocks/>
          </p:cNvSpPr>
          <p:nvPr/>
        </p:nvSpPr>
        <p:spPr>
          <a:xfrm>
            <a:off x="1147313" y="1122363"/>
            <a:ext cx="1013603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End‑to‑End Clinical Reporting Pipeline in R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7E7E9BD-7D7B-3AA3-C31F-366749096850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Raw Data → SDTM → </a:t>
            </a:r>
            <a:r>
              <a:rPr lang="en-US" dirty="0" err="1"/>
              <a:t>ADaM</a:t>
            </a:r>
            <a:r>
              <a:rPr lang="en-US" dirty="0"/>
              <a:t> →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2304010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15390-CB6E-1129-B32F-AFFA4095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24E7BBC-0EFC-1336-24A5-924491FD9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428FD19-83C7-FB74-7B5D-A8C996B65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A5376-C0FE-0F55-80BA-28670857A534}"/>
              </a:ext>
            </a:extLst>
          </p:cNvPr>
          <p:cNvSpPr txBox="1"/>
          <p:nvPr/>
        </p:nvSpPr>
        <p:spPr>
          <a:xfrm>
            <a:off x="1195754" y="760195"/>
            <a:ext cx="9315939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Agenda</a:t>
            </a:r>
            <a:endParaRPr lang="en-US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Problem Statement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quote-cjk-patch"/>
              </a:rPr>
              <a:t>Pipeline Overview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quote-cjk-patch"/>
              </a:rPr>
              <a:t>SDTM Generation (</a:t>
            </a:r>
            <a:r>
              <a:rPr lang="en-US" sz="2800" dirty="0" err="1">
                <a:solidFill>
                  <a:srgbClr val="0F1115"/>
                </a:solidFill>
                <a:latin typeface="quote-cjk-patch"/>
              </a:rPr>
              <a:t>sdtm.oak</a:t>
            </a:r>
            <a:r>
              <a:rPr lang="en-US" sz="2800" dirty="0">
                <a:solidFill>
                  <a:srgbClr val="0F1115"/>
                </a:solidFill>
                <a:latin typeface="quote-cjk-patch"/>
              </a:rPr>
              <a:t> + </a:t>
            </a:r>
            <a:r>
              <a:rPr lang="en-US" sz="2800" dirty="0" err="1">
                <a:solidFill>
                  <a:srgbClr val="0F1115"/>
                </a:solidFill>
                <a:latin typeface="quote-cjk-patch"/>
              </a:rPr>
              <a:t>metacore</a:t>
            </a:r>
            <a:r>
              <a:rPr lang="en-US" sz="2800" dirty="0">
                <a:solidFill>
                  <a:srgbClr val="0F1115"/>
                </a:solidFill>
                <a:latin typeface="quote-cjk-patch"/>
              </a:rPr>
              <a:t>/</a:t>
            </a:r>
            <a:r>
              <a:rPr lang="en-US" sz="2800" dirty="0" err="1">
                <a:solidFill>
                  <a:srgbClr val="0F1115"/>
                </a:solidFill>
                <a:latin typeface="quote-cjk-patch"/>
              </a:rPr>
              <a:t>metatools</a:t>
            </a:r>
            <a:r>
              <a:rPr lang="en-US" sz="2800" dirty="0">
                <a:solidFill>
                  <a:srgbClr val="0F1115"/>
                </a:solidFill>
                <a:latin typeface="quote-cjk-patch"/>
              </a:rPr>
              <a:t>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F1115"/>
                </a:solidFill>
                <a:latin typeface="quote-cjk-patch"/>
              </a:rPr>
              <a:t>ADaM</a:t>
            </a:r>
            <a:r>
              <a:rPr lang="en-US" sz="2800" dirty="0">
                <a:solidFill>
                  <a:srgbClr val="0F1115"/>
                </a:solidFill>
                <a:latin typeface="quote-cjk-patch"/>
              </a:rPr>
              <a:t> Creation (admiral)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quote-cjk-patch"/>
              </a:rPr>
              <a:t>TLF Dashboard (teal)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quote-cjk-patch"/>
              </a:rPr>
              <a:t>Validation Strategy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quote-cjk-patch"/>
              </a:rPr>
              <a:t>Next Steps / Deliverables</a:t>
            </a:r>
          </a:p>
        </p:txBody>
      </p:sp>
    </p:spTree>
    <p:extLst>
      <p:ext uri="{BB962C8B-B14F-4D97-AF65-F5344CB8AC3E}">
        <p14:creationId xmlns:p14="http://schemas.microsoft.com/office/powerpoint/2010/main" val="204771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9FB74-EEEE-EC2A-6A8B-65B53339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24E81D4-784B-CD2E-9B7E-FE1DC0E39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9DF26E5-F03D-BAE7-A312-5C2EC7433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72D4E-00B9-EE14-D542-BCAE203C7DEE}"/>
              </a:ext>
            </a:extLst>
          </p:cNvPr>
          <p:cNvSpPr txBox="1"/>
          <p:nvPr/>
        </p:nvSpPr>
        <p:spPr>
          <a:xfrm>
            <a:off x="0" y="0"/>
            <a:ext cx="12124592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Trial Data Flow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{</a:t>
            </a:r>
            <a:r>
              <a:rPr lang="en-US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metacore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 + {</a:t>
            </a:r>
            <a:r>
              <a:rPr lang="en-US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metatools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SDTM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metacore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Defines the study metadata and specifications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metatools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these specifications to prepare and validate SDTM data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{admiral}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the prepared SDTM data from {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metatools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analysis-ready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following CDISC standards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{tern}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Analysis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 to generate Tables, Listings, and Graphs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{teal}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Delivery Layer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Creates interactive applications using all of the above components</a:t>
            </a:r>
          </a:p>
          <a:p>
            <a:r>
              <a:rPr lang="en-US" sz="2000" b="1" dirty="0"/>
              <a:t>{</a:t>
            </a:r>
            <a:r>
              <a:rPr lang="en-US" sz="2000" b="1" dirty="0" err="1"/>
              <a:t>metacore</a:t>
            </a:r>
            <a:r>
              <a:rPr lang="en-US" sz="2000" b="1" dirty="0"/>
              <a:t>}</a:t>
            </a:r>
            <a:r>
              <a:rPr lang="en-US" sz="2000" dirty="0"/>
              <a:t>: Metadata specification</a:t>
            </a:r>
          </a:p>
          <a:p>
            <a:r>
              <a:rPr lang="en-US" sz="2000" b="1" dirty="0"/>
              <a:t>{</a:t>
            </a:r>
            <a:r>
              <a:rPr lang="en-US" sz="2000" b="1" dirty="0" err="1"/>
              <a:t>metatools</a:t>
            </a:r>
            <a:r>
              <a:rPr lang="en-US" sz="2000" b="1" dirty="0"/>
              <a:t>}</a:t>
            </a:r>
            <a:r>
              <a:rPr lang="en-US" sz="2000" dirty="0"/>
              <a:t>: SDTM data preparation</a:t>
            </a:r>
          </a:p>
          <a:p>
            <a:r>
              <a:rPr lang="en-US" sz="2000" b="1" dirty="0"/>
              <a:t>{admiral}</a:t>
            </a:r>
            <a:r>
              <a:rPr lang="en-US" sz="2000" dirty="0"/>
              <a:t>: </a:t>
            </a:r>
            <a:r>
              <a:rPr lang="en-US" sz="2000" dirty="0" err="1"/>
              <a:t>ADaM</a:t>
            </a:r>
            <a:r>
              <a:rPr lang="en-US" sz="2000" dirty="0"/>
              <a:t> dataset creation</a:t>
            </a:r>
          </a:p>
          <a:p>
            <a:r>
              <a:rPr lang="en-US" sz="2000" b="1" dirty="0"/>
              <a:t>{tern}</a:t>
            </a:r>
            <a:r>
              <a:rPr lang="en-US" sz="2000" dirty="0"/>
              <a:t>: Statistical analysis and TLGs  	</a:t>
            </a:r>
            <a:endParaRPr lang="en-US" sz="2000" dirty="0">
              <a:highlight>
                <a:srgbClr val="FFFF00"/>
              </a:highlight>
            </a:endParaRPr>
          </a:p>
          <a:p>
            <a:r>
              <a:rPr lang="en-US" sz="2000" b="1" dirty="0"/>
              <a:t>{teal}</a:t>
            </a:r>
            <a:r>
              <a:rPr lang="en-US" sz="2000" dirty="0"/>
              <a:t>: Interactive applications		</a:t>
            </a:r>
            <a:endParaRPr lang="en-US" sz="2000" dirty="0">
              <a:highlight>
                <a:srgbClr val="FFFF00"/>
              </a:highlight>
            </a:endParaRPr>
          </a:p>
          <a:p>
            <a:r>
              <a:rPr lang="en-US" sz="2000" b="1" dirty="0"/>
              <a:t>{</a:t>
            </a:r>
            <a:r>
              <a:rPr lang="en-US" sz="2000" b="1" dirty="0" err="1"/>
              <a:t>rtables</a:t>
            </a:r>
            <a:r>
              <a:rPr lang="en-US" sz="2000" b="1" dirty="0"/>
              <a:t>}</a:t>
            </a:r>
            <a:r>
              <a:rPr lang="en-US" sz="2000" dirty="0"/>
              <a:t>: Table formatting engine	</a:t>
            </a:r>
          </a:p>
          <a:p>
            <a:r>
              <a:rPr lang="en-US" sz="2000" b="1" dirty="0"/>
              <a:t>{</a:t>
            </a:r>
            <a:r>
              <a:rPr lang="en-US" sz="2000" b="1" dirty="0" err="1"/>
              <a:t>xportr</a:t>
            </a:r>
            <a:r>
              <a:rPr lang="en-US" sz="2000" b="1" dirty="0"/>
              <a:t>}: </a:t>
            </a:r>
            <a:r>
              <a:rPr lang="en-US" sz="2000" dirty="0"/>
              <a:t>validation checks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03B452-7934-9161-2801-6B157A72E78C}"/>
              </a:ext>
            </a:extLst>
          </p:cNvPr>
          <p:cNvSpPr txBox="1"/>
          <p:nvPr/>
        </p:nvSpPr>
        <p:spPr>
          <a:xfrm>
            <a:off x="7866186" y="437225"/>
            <a:ext cx="435951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Raw Data (CDISC OAK)</a:t>
            </a:r>
          </a:p>
          <a:p>
            <a:r>
              <a:rPr lang="en-US" dirty="0">
                <a:solidFill>
                  <a:schemeClr val="accent1"/>
                </a:solidFill>
              </a:rPr>
              <a:t>       ↓</a:t>
            </a:r>
          </a:p>
          <a:p>
            <a:r>
              <a:rPr lang="en-US" dirty="0">
                <a:solidFill>
                  <a:schemeClr val="accent1"/>
                </a:solidFill>
              </a:rPr>
              <a:t>  </a:t>
            </a:r>
            <a:r>
              <a:rPr lang="en-US" dirty="0" err="1">
                <a:solidFill>
                  <a:schemeClr val="accent1"/>
                </a:solidFill>
              </a:rPr>
              <a:t>sdtm.oak</a:t>
            </a:r>
            <a:r>
              <a:rPr lang="en-US" dirty="0">
                <a:solidFill>
                  <a:schemeClr val="accent1"/>
                </a:solidFill>
              </a:rPr>
              <a:t>  →  SDTM (DM, AE, EX, DS)</a:t>
            </a:r>
          </a:p>
          <a:p>
            <a:r>
              <a:rPr lang="en-US" dirty="0">
                <a:solidFill>
                  <a:schemeClr val="accent1"/>
                </a:solidFill>
              </a:rPr>
              <a:t>       ↓</a:t>
            </a:r>
          </a:p>
          <a:p>
            <a:r>
              <a:rPr lang="en-US" dirty="0">
                <a:solidFill>
                  <a:schemeClr val="accent1"/>
                </a:solidFill>
              </a:rPr>
              <a:t>   admiral   →  </a:t>
            </a:r>
            <a:r>
              <a:rPr lang="en-US" dirty="0" err="1">
                <a:solidFill>
                  <a:schemeClr val="accent1"/>
                </a:solidFill>
              </a:rPr>
              <a:t>ADaM</a:t>
            </a:r>
            <a:r>
              <a:rPr lang="en-US" dirty="0">
                <a:solidFill>
                  <a:schemeClr val="accent1"/>
                </a:solidFill>
              </a:rPr>
              <a:t> (ADSL, ADAE, ADTTE)</a:t>
            </a:r>
          </a:p>
          <a:p>
            <a:r>
              <a:rPr lang="en-US" dirty="0">
                <a:solidFill>
                  <a:schemeClr val="accent1"/>
                </a:solidFill>
              </a:rPr>
              <a:t>       ↓</a:t>
            </a:r>
          </a:p>
          <a:p>
            <a:r>
              <a:rPr lang="en-US" dirty="0">
                <a:solidFill>
                  <a:schemeClr val="accent1"/>
                </a:solidFill>
              </a:rPr>
              <a:t>     teal    →  Interactive Dashboard</a:t>
            </a:r>
          </a:p>
          <a:p>
            <a:r>
              <a:rPr lang="en-US" dirty="0">
                <a:solidFill>
                  <a:schemeClr val="accent1"/>
                </a:solidFill>
              </a:rPr>
              <a:t>       ↓</a:t>
            </a:r>
          </a:p>
          <a:p>
            <a:r>
              <a:rPr lang="en-US" dirty="0">
                <a:solidFill>
                  <a:schemeClr val="accent1"/>
                </a:solidFill>
              </a:rPr>
              <a:t>   </a:t>
            </a:r>
            <a:r>
              <a:rPr lang="en-US" dirty="0" err="1">
                <a:solidFill>
                  <a:schemeClr val="accent1"/>
                </a:solidFill>
              </a:rPr>
              <a:t>xportr</a:t>
            </a:r>
            <a:r>
              <a:rPr lang="en-US" dirty="0">
                <a:solidFill>
                  <a:schemeClr val="accent1"/>
                </a:solidFill>
              </a:rPr>
              <a:t>    →  Validation + XPT export</a:t>
            </a:r>
          </a:p>
        </p:txBody>
      </p:sp>
    </p:spTree>
    <p:extLst>
      <p:ext uri="{BB962C8B-B14F-4D97-AF65-F5344CB8AC3E}">
        <p14:creationId xmlns:p14="http://schemas.microsoft.com/office/powerpoint/2010/main" val="1971370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2794FA-041D-E1AD-BA97-5B25323A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1E5442A-5CC2-97CE-3E7C-3BABACE2A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540458"/>
              </p:ext>
            </p:extLst>
          </p:nvPr>
        </p:nvGraphicFramePr>
        <p:xfrm>
          <a:off x="643467" y="643467"/>
          <a:ext cx="10905068" cy="5571067"/>
        </p:xfrm>
        <a:graphic>
          <a:graphicData uri="http://schemas.openxmlformats.org/drawingml/2006/table">
            <a:tbl>
              <a:tblPr/>
              <a:tblGrid>
                <a:gridCol w="2077114">
                  <a:extLst>
                    <a:ext uri="{9D8B030D-6E8A-4147-A177-3AD203B41FA5}">
                      <a16:colId xmlns:a16="http://schemas.microsoft.com/office/drawing/2014/main" val="2068044543"/>
                    </a:ext>
                  </a:extLst>
                </a:gridCol>
                <a:gridCol w="4409178">
                  <a:extLst>
                    <a:ext uri="{9D8B030D-6E8A-4147-A177-3AD203B41FA5}">
                      <a16:colId xmlns:a16="http://schemas.microsoft.com/office/drawing/2014/main" val="4176146280"/>
                    </a:ext>
                  </a:extLst>
                </a:gridCol>
                <a:gridCol w="4418776">
                  <a:extLst>
                    <a:ext uri="{9D8B030D-6E8A-4147-A177-3AD203B41FA5}">
                      <a16:colId xmlns:a16="http://schemas.microsoft.com/office/drawing/2014/main" val="3427981095"/>
                    </a:ext>
                  </a:extLst>
                </a:gridCol>
              </a:tblGrid>
              <a:tr h="494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Package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Primary Role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Key Validation / Core Feature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44566"/>
                  </a:ext>
                </a:extLst>
              </a:tr>
              <a:tr h="494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</a:rPr>
                        <a:t>metacore</a:t>
                      </a: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}</a:t>
                      </a:r>
                      <a:endParaRPr lang="en-US" sz="1400" b="1" dirty="0"/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Holds study metadata &amp; specifications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Reads P21 specs; provides controlled terms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468281"/>
                  </a:ext>
                </a:extLst>
              </a:tr>
              <a:tr h="1055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</a:rPr>
                        <a:t>metatools</a:t>
                      </a: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}</a:t>
                      </a:r>
                      <a:endParaRPr lang="en-US" sz="1400" b="1" dirty="0"/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SDTM creation &amp; validation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err="1">
                          <a:latin typeface="Courier New" panose="02070309020205020404" pitchFamily="49" charset="0"/>
                        </a:rPr>
                        <a:t>check_ct_data</a:t>
                      </a:r>
                      <a:r>
                        <a:rPr lang="en-US" sz="13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300" dirty="0"/>
                        <a:t> – CT compliance; </a:t>
                      </a:r>
                      <a:r>
                        <a:rPr lang="en-US" sz="1300" dirty="0" err="1">
                          <a:latin typeface="Courier New" panose="02070309020205020404" pitchFamily="49" charset="0"/>
                        </a:rPr>
                        <a:t>build_from_derived</a:t>
                      </a:r>
                      <a:r>
                        <a:rPr lang="en-US" sz="13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300" dirty="0"/>
                        <a:t> – automated derivations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124072"/>
                  </a:ext>
                </a:extLst>
              </a:tr>
              <a:tr h="775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{admiral}</a:t>
                      </a:r>
                      <a:endParaRPr lang="en-US" sz="1400" b="1" dirty="0"/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ADaM dataset creation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use_ad_template()</a:t>
                      </a:r>
                      <a:r>
                        <a:rPr lang="en-US" sz="1300"/>
                        <a:t> – standard ADaM structures; traceable derivations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556677"/>
                  </a:ext>
                </a:extLst>
              </a:tr>
              <a:tr h="494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{teal}</a:t>
                      </a:r>
                      <a:endParaRPr lang="en-US" sz="1400" b="1" dirty="0"/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Interactive dashboard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Filter panels, modular TLF modules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69992"/>
                  </a:ext>
                </a:extLst>
              </a:tr>
              <a:tr h="775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</a:rPr>
                        <a:t>xportr</a:t>
                      </a: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}</a:t>
                      </a:r>
                      <a:endParaRPr lang="en-US" sz="1400" b="1" dirty="0"/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CDISC conformance &amp; XPT export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Enforces names ≤8, labels ≤40, types, lengths; writes v5 XPT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9160"/>
                  </a:ext>
                </a:extLst>
              </a:tr>
              <a:tr h="494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</a:rPr>
                        <a:t>sdtmchecks</a:t>
                      </a: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}</a:t>
                      </a:r>
                      <a:endParaRPr lang="en-US" sz="1400" b="1" dirty="0"/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Cross‑domain consistency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DM vs. AE vs. EX – automated checks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3154"/>
                  </a:ext>
                </a:extLst>
              </a:tr>
              <a:tr h="494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</a:rPr>
                        <a:t>diffdf</a:t>
                      </a: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}</a:t>
                      </a:r>
                      <a:endParaRPr lang="en-US" sz="1400" b="1" dirty="0"/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Dataset comparison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Raw → SDTM → ADaM reconciliation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136705"/>
                  </a:ext>
                </a:extLst>
              </a:tr>
              <a:tr h="494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</a:rPr>
                        <a:t>dplyr</a:t>
                      </a: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}</a:t>
                      </a:r>
                      <a:r>
                        <a:rPr lang="en-US" sz="1400" b="1" dirty="0"/>
                        <a:t> / </a:t>
                      </a:r>
                      <a:r>
                        <a:rPr lang="en-US" sz="1400" b="1" dirty="0">
                          <a:latin typeface="Courier New" panose="02070309020205020404" pitchFamily="49" charset="0"/>
                        </a:rPr>
                        <a:t>{survival}</a:t>
                      </a:r>
                      <a:endParaRPr lang="en-US" sz="1400" b="1" dirty="0"/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Independent validation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Compare dashboard counts/KM estimates</a:t>
                      </a:r>
                    </a:p>
                  </a:txBody>
                  <a:tcPr marL="55212" marR="55212" marT="55212" marB="55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018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905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F752B-E03A-A3B4-48D0-B4B511DB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2D66482-7B04-DF37-5480-A78BC82F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0FC9987-CA6C-767A-C9C9-6B438DF04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CDCEF0-8958-5BE6-8997-0CA8A0F34FE7}"/>
              </a:ext>
            </a:extLst>
          </p:cNvPr>
          <p:cNvSpPr txBox="1"/>
          <p:nvPr/>
        </p:nvSpPr>
        <p:spPr>
          <a:xfrm>
            <a:off x="10258" y="0"/>
            <a:ext cx="121245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SDTM.OAK Programming Steps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Raw Datasets </a:t>
            </a:r>
            <a:r>
              <a:rPr lang="en-US" sz="2400" dirty="0">
                <a:highlight>
                  <a:srgbClr val="FFFF00"/>
                </a:highlight>
                <a:sym typeface="Wingdings" panose="05000000000000000000" pitchFamily="2" charset="2"/>
              </a:rPr>
              <a:t>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 err="1">
                <a:highlight>
                  <a:srgbClr val="FFFF00"/>
                </a:highlight>
              </a:rPr>
              <a:t>pharmaverseraw</a:t>
            </a:r>
            <a:r>
              <a:rPr lang="en-US" sz="2400" dirty="0">
                <a:highlight>
                  <a:srgbClr val="FFFF00"/>
                </a:highlight>
              </a:rPr>
              <a:t>::</a:t>
            </a:r>
            <a:r>
              <a:rPr lang="en-US" sz="2400" dirty="0" err="1">
                <a:highlight>
                  <a:srgbClr val="FFFF00"/>
                </a:highlight>
              </a:rPr>
              <a:t>ae_raw</a:t>
            </a:r>
            <a:r>
              <a:rPr lang="en-US" sz="2400" dirty="0">
                <a:highlight>
                  <a:srgbClr val="FFFF00"/>
                </a:highlight>
              </a:rPr>
              <a:t>, dm, ds, </a:t>
            </a:r>
            <a:r>
              <a:rPr lang="en-US" sz="2400" dirty="0" err="1">
                <a:highlight>
                  <a:srgbClr val="FFFF00"/>
                </a:highlight>
              </a:rPr>
              <a:t>ec</a:t>
            </a:r>
            <a:r>
              <a:rPr lang="en-US" sz="2400" dirty="0">
                <a:highlight>
                  <a:srgbClr val="FFFF00"/>
                </a:highlight>
              </a:rPr>
              <a:t>, vs</a:t>
            </a:r>
          </a:p>
          <a:p>
            <a:endParaRPr lang="en-US" sz="2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09D1D-F37E-04EA-A7CE-6EC1391B0B44}"/>
              </a:ext>
            </a:extLst>
          </p:cNvPr>
          <p:cNvSpPr txBox="1"/>
          <p:nvPr/>
        </p:nvSpPr>
        <p:spPr>
          <a:xfrm>
            <a:off x="336430" y="1268083"/>
            <a:ext cx="1022230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657B83"/>
                </a:solidFill>
                <a:effectLst/>
                <a:latin typeface="Lato" panose="020F0502020204030203" pitchFamily="34" charset="0"/>
              </a:rPr>
              <a:t>Read Raw datasets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657B83"/>
                </a:solidFill>
                <a:effectLst/>
                <a:latin typeface="Lato" panose="020F0502020204030203" pitchFamily="34" charset="0"/>
              </a:rPr>
              <a:t>Create id vars in the raw dataset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657B83"/>
                </a:solidFill>
                <a:effectLst/>
                <a:latin typeface="Lato" panose="020F0502020204030203" pitchFamily="34" charset="0"/>
              </a:rPr>
              <a:t>Read study controlled terminology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657B83"/>
                </a:solidFill>
                <a:effectLst/>
                <a:latin typeface="Lato" panose="020F0502020204030203" pitchFamily="34" charset="0"/>
              </a:rPr>
              <a:t>Map Topic Variable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657B83"/>
                </a:solidFill>
                <a:effectLst/>
                <a:latin typeface="Lato" panose="020F0502020204030203" pitchFamily="34" charset="0"/>
              </a:rPr>
              <a:t>Map Rest of the variables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657B83"/>
                </a:solidFill>
                <a:effectLst/>
                <a:latin typeface="Lato" panose="020F0502020204030203" pitchFamily="34" charset="0"/>
              </a:rPr>
              <a:t>Repeat Map topic and Map rest for every topic variable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657B83"/>
                </a:solidFill>
                <a:effectLst/>
                <a:latin typeface="Lato" panose="020F0502020204030203" pitchFamily="34" charset="0"/>
              </a:rPr>
              <a:t>Create SDTM derived variables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657B83"/>
                </a:solidFill>
                <a:effectLst/>
                <a:latin typeface="Lato" panose="020F0502020204030203" pitchFamily="34" charset="0"/>
              </a:rPr>
              <a:t>Add </a:t>
            </a:r>
            <a:r>
              <a:rPr lang="en-US" sz="3600" b="0" i="0" dirty="0" err="1">
                <a:solidFill>
                  <a:srgbClr val="657B83"/>
                </a:solidFill>
                <a:effectLst/>
                <a:latin typeface="Lato" panose="020F0502020204030203" pitchFamily="34" charset="0"/>
              </a:rPr>
              <a:t>Lables</a:t>
            </a:r>
            <a:r>
              <a:rPr lang="en-US" sz="3600" b="0" i="0" dirty="0">
                <a:solidFill>
                  <a:srgbClr val="657B83"/>
                </a:solidFill>
                <a:effectLst/>
                <a:latin typeface="Lato" panose="020F0502020204030203" pitchFamily="34" charset="0"/>
              </a:rPr>
              <a:t> and Attributes</a:t>
            </a:r>
          </a:p>
        </p:txBody>
      </p:sp>
    </p:spTree>
    <p:extLst>
      <p:ext uri="{BB962C8B-B14F-4D97-AF65-F5344CB8AC3E}">
        <p14:creationId xmlns:p14="http://schemas.microsoft.com/office/powerpoint/2010/main" val="355183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00071-EEC7-1FB9-36AA-A477ED96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SDTM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B1702-3CD6-E5A6-6DAB-187A824EB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275" y="0"/>
            <a:ext cx="8927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7CBBD6-3A31-2D93-BE06-249186F68E7B}"/>
              </a:ext>
            </a:extLst>
          </p:cNvPr>
          <p:cNvSpPr txBox="1"/>
          <p:nvPr/>
        </p:nvSpPr>
        <p:spPr>
          <a:xfrm>
            <a:off x="5480588" y="198917"/>
            <a:ext cx="2284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{SDTM.OAK}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592B9B-D765-1566-65BF-AF415203D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712"/>
            <a:ext cx="12192000" cy="502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1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E98C36-63AC-4C7F-BF08-DE0F38D085D9}"/>
              </a:ext>
            </a:extLst>
          </p:cNvPr>
          <p:cNvSpPr txBox="1">
            <a:spLocks/>
          </p:cNvSpPr>
          <p:nvPr/>
        </p:nvSpPr>
        <p:spPr>
          <a:xfrm>
            <a:off x="2464418" y="656364"/>
            <a:ext cx="3153717" cy="883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err="1"/>
              <a:t>ADaM</a:t>
            </a:r>
            <a:r>
              <a:rPr lang="en-GB" sz="2800" b="1" dirty="0"/>
              <a:t> Work Flow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947DA5-D702-4503-BCE9-45779206A919}"/>
              </a:ext>
            </a:extLst>
          </p:cNvPr>
          <p:cNvSpPr/>
          <p:nvPr/>
        </p:nvSpPr>
        <p:spPr bwMode="auto">
          <a:xfrm>
            <a:off x="490653" y="2230459"/>
            <a:ext cx="1973767" cy="80288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600" kern="0">
                <a:solidFill>
                  <a:schemeClr val="bg1"/>
                </a:solidFill>
              </a:rPr>
              <a:t>Import metadata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00B310-8B27-4133-BB07-A5A7CE67E45A}"/>
              </a:ext>
            </a:extLst>
          </p:cNvPr>
          <p:cNvSpPr/>
          <p:nvPr/>
        </p:nvSpPr>
        <p:spPr bwMode="auto">
          <a:xfrm>
            <a:off x="490652" y="3923950"/>
            <a:ext cx="1973767" cy="80288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600" kern="0">
                <a:solidFill>
                  <a:schemeClr val="bg1"/>
                </a:solidFill>
              </a:rPr>
              <a:t>Import data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E0C118-F5D1-4C11-A856-62C3A38CE66B}"/>
              </a:ext>
            </a:extLst>
          </p:cNvPr>
          <p:cNvSpPr/>
          <p:nvPr/>
        </p:nvSpPr>
        <p:spPr bwMode="auto">
          <a:xfrm>
            <a:off x="3865754" y="3033347"/>
            <a:ext cx="1973767" cy="80288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600" kern="0">
                <a:solidFill>
                  <a:schemeClr val="bg1"/>
                </a:solidFill>
              </a:rPr>
              <a:t>Combine predecessor variables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B8D37C-3022-44F3-8E0E-D99299271CC0}"/>
              </a:ext>
            </a:extLst>
          </p:cNvPr>
          <p:cNvSpPr/>
          <p:nvPr/>
        </p:nvSpPr>
        <p:spPr bwMode="auto">
          <a:xfrm>
            <a:off x="6713236" y="3033347"/>
            <a:ext cx="1973767" cy="80288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600" kern="0" dirty="0">
                <a:solidFill>
                  <a:schemeClr val="bg1"/>
                </a:solidFill>
              </a:rPr>
              <a:t>Do any calculations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EA7F83-1557-4012-8C92-50873F86454D}"/>
              </a:ext>
            </a:extLst>
          </p:cNvPr>
          <p:cNvSpPr/>
          <p:nvPr/>
        </p:nvSpPr>
        <p:spPr bwMode="auto">
          <a:xfrm>
            <a:off x="9560718" y="3033347"/>
            <a:ext cx="1973767" cy="80288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600" kern="0">
                <a:solidFill>
                  <a:schemeClr val="bg1"/>
                </a:solidFill>
              </a:rPr>
              <a:t>Drop unused variables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003E21F-ABAC-4511-8F42-1E33D30D6289}"/>
              </a:ext>
            </a:extLst>
          </p:cNvPr>
          <p:cNvSpPr/>
          <p:nvPr/>
        </p:nvSpPr>
        <p:spPr bwMode="auto">
          <a:xfrm rot="20423501">
            <a:off x="2667342" y="3815665"/>
            <a:ext cx="892097" cy="430887"/>
          </a:xfrm>
          <a:prstGeom prst="rightArrow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85001DF-BA15-4C93-A266-8AF37C267F3E}"/>
              </a:ext>
            </a:extLst>
          </p:cNvPr>
          <p:cNvSpPr/>
          <p:nvPr/>
        </p:nvSpPr>
        <p:spPr bwMode="auto">
          <a:xfrm rot="1176499" flipV="1">
            <a:off x="2687972" y="2606733"/>
            <a:ext cx="892097" cy="430887"/>
          </a:xfrm>
          <a:prstGeom prst="rightArrow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EABD0DB-E687-467D-AE37-F05407C04B5F}"/>
              </a:ext>
            </a:extLst>
          </p:cNvPr>
          <p:cNvSpPr/>
          <p:nvPr/>
        </p:nvSpPr>
        <p:spPr bwMode="auto">
          <a:xfrm>
            <a:off x="5967363" y="3285391"/>
            <a:ext cx="618030" cy="298800"/>
          </a:xfrm>
          <a:prstGeom prst="rightArrow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9F42767-6027-46C5-9982-5C54C73C0ABE}"/>
              </a:ext>
            </a:extLst>
          </p:cNvPr>
          <p:cNvSpPr/>
          <p:nvPr/>
        </p:nvSpPr>
        <p:spPr bwMode="auto">
          <a:xfrm>
            <a:off x="8810101" y="3285391"/>
            <a:ext cx="618030" cy="298800"/>
          </a:xfrm>
          <a:prstGeom prst="rightArrow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pic>
        <p:nvPicPr>
          <p:cNvPr id="17" name="Picture 8">
            <a:extLst>
              <a:ext uri="{FF2B5EF4-FFF2-40B4-BE49-F238E27FC236}">
                <a16:creationId xmlns:a16="http://schemas.microsoft.com/office/drawing/2014/main" id="{7022477F-6A55-48F5-B197-0D71B1609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26" y="1293859"/>
            <a:ext cx="1052278" cy="1217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3C812FC-86ED-45CB-9398-93393FB1A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3" y="4414200"/>
            <a:ext cx="1072591" cy="1242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>
            <a:extLst>
              <a:ext uri="{FF2B5EF4-FFF2-40B4-BE49-F238E27FC236}">
                <a16:creationId xmlns:a16="http://schemas.microsoft.com/office/drawing/2014/main" id="{765EF456-0325-4F2E-901F-A110EBBB1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453" y="1861126"/>
            <a:ext cx="1051200" cy="1216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1EBEA60C-10E0-40E7-860E-30F7BCD2F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308" y="1954206"/>
            <a:ext cx="1051200" cy="122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EAB1CDC-45A4-4F16-B8AB-B6ACD2F2D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713" y="1087251"/>
            <a:ext cx="1051200" cy="121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2D1E53E5-F074-40CA-A0E8-9EAEDEAF9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498" y="1093382"/>
            <a:ext cx="1051200" cy="1216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>
            <a:extLst>
              <a:ext uri="{FF2B5EF4-FFF2-40B4-BE49-F238E27FC236}">
                <a16:creationId xmlns:a16="http://schemas.microsoft.com/office/drawing/2014/main" id="{D60822CC-55C8-4371-99B3-A71C5D184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2001" y="1861125"/>
            <a:ext cx="1051200" cy="1216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86B1EE9F-68FC-4BFE-AE26-6C665441B45D}"/>
              </a:ext>
            </a:extLst>
          </p:cNvPr>
          <p:cNvSpPr/>
          <p:nvPr/>
        </p:nvSpPr>
        <p:spPr bwMode="auto">
          <a:xfrm rot="5400000">
            <a:off x="10238586" y="4083565"/>
            <a:ext cx="618030" cy="298800"/>
          </a:xfrm>
          <a:prstGeom prst="rightArrow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38E3887-CA2A-4C21-8BE6-FEE625E0118B}"/>
              </a:ext>
            </a:extLst>
          </p:cNvPr>
          <p:cNvSpPr/>
          <p:nvPr/>
        </p:nvSpPr>
        <p:spPr bwMode="auto">
          <a:xfrm>
            <a:off x="9581521" y="4736385"/>
            <a:ext cx="1973767" cy="80288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600" kern="0">
                <a:solidFill>
                  <a:schemeClr val="bg1"/>
                </a:solidFill>
              </a:rPr>
              <a:t>Export dataset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EE34E0C-7069-42E6-BD0B-4177A8AEA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2804" y="5436816"/>
            <a:ext cx="1051200" cy="1216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608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6FB55DE8-A0D8-F0C9-A75A-70C014100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833257"/>
              </p:ext>
            </p:extLst>
          </p:nvPr>
        </p:nvGraphicFramePr>
        <p:xfrm>
          <a:off x="2473013" y="116171"/>
          <a:ext cx="8463175" cy="5029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92635">
                  <a:extLst>
                    <a:ext uri="{9D8B030D-6E8A-4147-A177-3AD203B41FA5}">
                      <a16:colId xmlns:a16="http://schemas.microsoft.com/office/drawing/2014/main" val="671404405"/>
                    </a:ext>
                  </a:extLst>
                </a:gridCol>
                <a:gridCol w="1692635">
                  <a:extLst>
                    <a:ext uri="{9D8B030D-6E8A-4147-A177-3AD203B41FA5}">
                      <a16:colId xmlns:a16="http://schemas.microsoft.com/office/drawing/2014/main" val="2500139443"/>
                    </a:ext>
                  </a:extLst>
                </a:gridCol>
                <a:gridCol w="1692635">
                  <a:extLst>
                    <a:ext uri="{9D8B030D-6E8A-4147-A177-3AD203B41FA5}">
                      <a16:colId xmlns:a16="http://schemas.microsoft.com/office/drawing/2014/main" val="1338003998"/>
                    </a:ext>
                  </a:extLst>
                </a:gridCol>
                <a:gridCol w="1692635">
                  <a:extLst>
                    <a:ext uri="{9D8B030D-6E8A-4147-A177-3AD203B41FA5}">
                      <a16:colId xmlns:a16="http://schemas.microsoft.com/office/drawing/2014/main" val="3927575502"/>
                    </a:ext>
                  </a:extLst>
                </a:gridCol>
                <a:gridCol w="1692635">
                  <a:extLst>
                    <a:ext uri="{9D8B030D-6E8A-4147-A177-3AD203B41FA5}">
                      <a16:colId xmlns:a16="http://schemas.microsoft.com/office/drawing/2014/main" val="4027172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Placebo </a:t>
                      </a:r>
                    </a:p>
                    <a:p>
                      <a:pPr algn="ctr"/>
                      <a:r>
                        <a:rPr lang="en-GB" sz="1600"/>
                        <a:t>(N = XX)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Treatment</a:t>
                      </a:r>
                    </a:p>
                    <a:p>
                      <a:pPr algn="ctr"/>
                      <a:r>
                        <a:rPr lang="en-GB" sz="1600"/>
                        <a:t>(N = XX)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Total </a:t>
                      </a:r>
                    </a:p>
                    <a:p>
                      <a:pPr algn="ctr"/>
                      <a:r>
                        <a:rPr lang="en-GB" sz="1600"/>
                        <a:t>(N = XX)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711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Age (y)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Mean (</a:t>
                      </a:r>
                      <a:r>
                        <a:rPr lang="en-GB" sz="1600" err="1"/>
                        <a:t>sd</a:t>
                      </a:r>
                      <a:r>
                        <a:rPr lang="en-GB" sz="160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XX.X(XX.XX)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XX.X(XX.XX)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XX.X(XX.XX)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37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Median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XX.X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XX.X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XX.X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75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Min, Max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XX,XX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XX,XX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XX,XX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892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8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&lt;65 yrs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38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65-80 </a:t>
                      </a:r>
                      <a:r>
                        <a:rPr lang="en-GB" sz="1600" err="1"/>
                        <a:t>yrs</a:t>
                      </a:r>
                      <a:endParaRPr lang="en-GB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17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&gt;80 </a:t>
                      </a:r>
                      <a:r>
                        <a:rPr lang="en-GB" sz="1600" err="1"/>
                        <a:t>yrs</a:t>
                      </a:r>
                      <a:endParaRPr lang="en-GB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272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14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Sex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783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400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Female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XX (XX.X%)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87555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762278B-1999-58C0-5332-66CD6F1A5A83}"/>
              </a:ext>
            </a:extLst>
          </p:cNvPr>
          <p:cNvSpPr/>
          <p:nvPr/>
        </p:nvSpPr>
        <p:spPr bwMode="auto">
          <a:xfrm>
            <a:off x="2403376" y="116171"/>
            <a:ext cx="3457254" cy="5102335"/>
          </a:xfrm>
          <a:prstGeom prst="rect">
            <a:avLst/>
          </a:prstGeom>
          <a:noFill/>
          <a:ln w="285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B30205-E382-ECA6-2026-BC17585B0D9E}"/>
              </a:ext>
            </a:extLst>
          </p:cNvPr>
          <p:cNvSpPr/>
          <p:nvPr/>
        </p:nvSpPr>
        <p:spPr bwMode="auto">
          <a:xfrm>
            <a:off x="2326322" y="51018"/>
            <a:ext cx="8768993" cy="657133"/>
          </a:xfrm>
          <a:prstGeom prst="rect">
            <a:avLst/>
          </a:prstGeom>
          <a:noFill/>
          <a:ln w="28575"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0B7617-BEA9-856C-4FE1-A61BDDB0FC18}"/>
              </a:ext>
            </a:extLst>
          </p:cNvPr>
          <p:cNvSpPr/>
          <p:nvPr/>
        </p:nvSpPr>
        <p:spPr bwMode="auto">
          <a:xfrm>
            <a:off x="5860629" y="708151"/>
            <a:ext cx="5234685" cy="4510355"/>
          </a:xfrm>
          <a:prstGeom prst="rect">
            <a:avLst/>
          </a:prstGeom>
          <a:noFill/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64745F-868F-C23D-4A2F-FC074CB8215A}"/>
              </a:ext>
            </a:extLst>
          </p:cNvPr>
          <p:cNvSpPr txBox="1"/>
          <p:nvPr/>
        </p:nvSpPr>
        <p:spPr>
          <a:xfrm>
            <a:off x="11049079" y="2963328"/>
            <a:ext cx="914400" cy="91440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600"/>
              <a:t>Table body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2D5570-0241-0B85-9AB5-6C23BF5F4C6E}"/>
              </a:ext>
            </a:extLst>
          </p:cNvPr>
          <p:cNvSpPr/>
          <p:nvPr/>
        </p:nvSpPr>
        <p:spPr bwMode="auto">
          <a:xfrm>
            <a:off x="2326322" y="708151"/>
            <a:ext cx="8768993" cy="1741470"/>
          </a:xfrm>
          <a:prstGeom prst="rect">
            <a:avLst/>
          </a:prstGeom>
          <a:noFill/>
          <a:ln w="28575">
            <a:solidFill>
              <a:schemeClr val="accent6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7D7956-6952-806F-B4DC-B60620CA6CDA}"/>
              </a:ext>
            </a:extLst>
          </p:cNvPr>
          <p:cNvSpPr txBox="1"/>
          <p:nvPr/>
        </p:nvSpPr>
        <p:spPr>
          <a:xfrm>
            <a:off x="11069058" y="29843"/>
            <a:ext cx="914400" cy="91440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600"/>
              <a:t>Columns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0AFEC4-760B-AB5E-5E78-F178D34D51E4}"/>
              </a:ext>
            </a:extLst>
          </p:cNvPr>
          <p:cNvSpPr txBox="1"/>
          <p:nvPr/>
        </p:nvSpPr>
        <p:spPr>
          <a:xfrm>
            <a:off x="1363404" y="2667338"/>
            <a:ext cx="1109609" cy="914400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rmAutofit fontScale="85000" lnSpcReduction="20000"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600"/>
              <a:t>Labels and groups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CCEF32-6BA3-B713-E1C4-33DBA682676A}"/>
              </a:ext>
            </a:extLst>
          </p:cNvPr>
          <p:cNvSpPr txBox="1"/>
          <p:nvPr/>
        </p:nvSpPr>
        <p:spPr>
          <a:xfrm>
            <a:off x="980979" y="1442754"/>
            <a:ext cx="914400" cy="91440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600"/>
              <a:t>Row groups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BD93AD-E39D-F17D-777A-4B0BF1E7A5D4}"/>
              </a:ext>
            </a:extLst>
          </p:cNvPr>
          <p:cNvSpPr txBox="1"/>
          <p:nvPr/>
        </p:nvSpPr>
        <p:spPr>
          <a:xfrm>
            <a:off x="-57990" y="4763296"/>
            <a:ext cx="3952395" cy="2327784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40000" lnSpcReduction="20000"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4000" dirty="0" err="1">
                <a:latin typeface="Consolas" panose="020B0609020204030204" pitchFamily="49" charset="0"/>
                <a:cs typeface="Courier New" panose="02070309020205020404" pitchFamily="49" charset="0"/>
              </a:rPr>
              <a:t>tfrmt</a:t>
            </a:r>
            <a:r>
              <a:rPr lang="en-GB" sz="4000" dirty="0">
                <a:latin typeface="Consolas" panose="020B0609020204030204" pitchFamily="49" charset="0"/>
                <a:cs typeface="Courier New" panose="02070309020205020404" pitchFamily="49" charset="0"/>
              </a:rPr>
              <a:t>(…,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4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GB" sz="4000" dirty="0">
                <a:solidFill>
                  <a:schemeClr val="accent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group = “var1”,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4000" dirty="0">
                <a:solidFill>
                  <a:schemeClr val="accent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label = “var2”,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4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GB" sz="40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body_plan</a:t>
            </a:r>
            <a:r>
              <a:rPr lang="en-GB" sz="40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GB" sz="40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body_plan</a:t>
            </a:r>
            <a:r>
              <a:rPr lang="en-GB" sz="40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(),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4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GB" sz="40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col_plan</a:t>
            </a:r>
            <a:r>
              <a:rPr lang="en-GB" sz="40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GB" sz="40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col_plan</a:t>
            </a:r>
            <a:r>
              <a:rPr lang="en-GB" sz="40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(),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40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GB" sz="4000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row_grp_plan</a:t>
            </a:r>
            <a:r>
              <a:rPr lang="en-GB" sz="4000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GB" sz="4000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row_grp_plan</a:t>
            </a:r>
            <a:r>
              <a:rPr lang="en-GB" sz="4000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4000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40C91-C371-8C1D-40C7-49786641C642}"/>
              </a:ext>
            </a:extLst>
          </p:cNvPr>
          <p:cNvSpPr txBox="1"/>
          <p:nvPr/>
        </p:nvSpPr>
        <p:spPr>
          <a:xfrm>
            <a:off x="86951" y="144089"/>
            <a:ext cx="19997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b="1" dirty="0"/>
              <a:t>{</a:t>
            </a:r>
            <a:r>
              <a:rPr lang="en-GB" sz="4800" b="1" dirty="0" err="1"/>
              <a:t>tfrmt</a:t>
            </a:r>
            <a:r>
              <a:rPr lang="en-GB" sz="4800" b="1" dirty="0"/>
              <a:t>}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2418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 animBg="1"/>
      <p:bldP spid="1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A0C24C-5F5F-E4FE-DC46-0E880DEE8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91" y="176641"/>
            <a:ext cx="11460163" cy="430887"/>
          </a:xfrm>
        </p:spPr>
        <p:txBody>
          <a:bodyPr>
            <a:normAutofit fontScale="90000"/>
          </a:bodyPr>
          <a:lstStyle/>
          <a:p>
            <a:r>
              <a:rPr lang="en-GB" dirty="0"/>
              <a:t>Value formatting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6A89EB-5278-FD54-CEAE-CF6F830E8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957236"/>
              </p:ext>
            </p:extLst>
          </p:nvPr>
        </p:nvGraphicFramePr>
        <p:xfrm>
          <a:off x="7670758" y="2835978"/>
          <a:ext cx="4521242" cy="190448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69073">
                  <a:extLst>
                    <a:ext uri="{9D8B030D-6E8A-4147-A177-3AD203B41FA5}">
                      <a16:colId xmlns:a16="http://schemas.microsoft.com/office/drawing/2014/main" val="671404405"/>
                    </a:ext>
                  </a:extLst>
                </a:gridCol>
                <a:gridCol w="836341">
                  <a:extLst>
                    <a:ext uri="{9D8B030D-6E8A-4147-A177-3AD203B41FA5}">
                      <a16:colId xmlns:a16="http://schemas.microsoft.com/office/drawing/2014/main" val="2500139443"/>
                    </a:ext>
                  </a:extLst>
                </a:gridCol>
                <a:gridCol w="1005276">
                  <a:extLst>
                    <a:ext uri="{9D8B030D-6E8A-4147-A177-3AD203B41FA5}">
                      <a16:colId xmlns:a16="http://schemas.microsoft.com/office/drawing/2014/main" val="1338003998"/>
                    </a:ext>
                  </a:extLst>
                </a:gridCol>
                <a:gridCol w="1005276">
                  <a:extLst>
                    <a:ext uri="{9D8B030D-6E8A-4147-A177-3AD203B41FA5}">
                      <a16:colId xmlns:a16="http://schemas.microsoft.com/office/drawing/2014/main" val="3927575502"/>
                    </a:ext>
                  </a:extLst>
                </a:gridCol>
                <a:gridCol w="1005276">
                  <a:extLst>
                    <a:ext uri="{9D8B030D-6E8A-4147-A177-3AD203B41FA5}">
                      <a16:colId xmlns:a16="http://schemas.microsoft.com/office/drawing/2014/main" val="4027172728"/>
                    </a:ext>
                  </a:extLst>
                </a:gridCol>
              </a:tblGrid>
              <a:tr h="38988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69553" marR="69553" marT="34777" marB="34777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69553" marR="69553" marT="34777" marB="3477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Placebo </a:t>
                      </a:r>
                    </a:p>
                  </a:txBody>
                  <a:tcPr marL="69553" marR="69553" marT="34777" marB="3477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Treatment</a:t>
                      </a:r>
                    </a:p>
                  </a:txBody>
                  <a:tcPr marL="69553" marR="69553" marT="34777" marB="34777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Total </a:t>
                      </a:r>
                    </a:p>
                  </a:txBody>
                  <a:tcPr marL="69553" marR="69553" marT="34777" marB="3477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711262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r>
                        <a:rPr lang="en-GB" sz="1200"/>
                        <a:t>Age (y)</a:t>
                      </a:r>
                    </a:p>
                  </a:txBody>
                  <a:tcPr marL="69553" marR="69553" marT="34777" marB="34777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n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767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69553" marR="69553" marT="34777" marB="34777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Mean (</a:t>
                      </a:r>
                      <a:r>
                        <a:rPr lang="en-GB" sz="1200" err="1"/>
                        <a:t>sd</a:t>
                      </a:r>
                      <a:r>
                        <a:rPr lang="en-GB" sz="1200"/>
                        <a:t>)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73.6(9.35)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74.2(7.23)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71.8(8.29)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371649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69553" marR="69553" marT="34777" marB="34777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14934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r>
                        <a:rPr lang="en-GB" sz="1200"/>
                        <a:t>Sex</a:t>
                      </a:r>
                    </a:p>
                  </a:txBody>
                  <a:tcPr marL="69553" marR="69553" marT="34777" marB="34777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n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783572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69553" marR="69553" marT="34777" marB="34777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Male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 (57.1%)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 (53.8%)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 (55.6%)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400279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69553" marR="69553" marT="34777" marB="34777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Female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 (48.2%)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 (46.1%)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 (44.4%)</a:t>
                      </a:r>
                    </a:p>
                  </a:txBody>
                  <a:tcPr marL="69553" marR="69553" marT="34777" marB="34777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875556"/>
                  </a:ext>
                </a:extLst>
              </a:tr>
            </a:tbl>
          </a:graphicData>
        </a:graphic>
      </p:graphicFrame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B43D3EF3-A5BF-0579-CFA7-E94D137F5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64990"/>
              </p:ext>
            </p:extLst>
          </p:nvPr>
        </p:nvGraphicFramePr>
        <p:xfrm>
          <a:off x="244575" y="1651554"/>
          <a:ext cx="2984644" cy="453740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27226">
                  <a:extLst>
                    <a:ext uri="{9D8B030D-6E8A-4147-A177-3AD203B41FA5}">
                      <a16:colId xmlns:a16="http://schemas.microsoft.com/office/drawing/2014/main" val="4215261781"/>
                    </a:ext>
                  </a:extLst>
                </a:gridCol>
                <a:gridCol w="644918">
                  <a:extLst>
                    <a:ext uri="{9D8B030D-6E8A-4147-A177-3AD203B41FA5}">
                      <a16:colId xmlns:a16="http://schemas.microsoft.com/office/drawing/2014/main" val="3364353816"/>
                    </a:ext>
                  </a:extLst>
                </a:gridCol>
                <a:gridCol w="644918">
                  <a:extLst>
                    <a:ext uri="{9D8B030D-6E8A-4147-A177-3AD203B41FA5}">
                      <a16:colId xmlns:a16="http://schemas.microsoft.com/office/drawing/2014/main" val="153357452"/>
                    </a:ext>
                  </a:extLst>
                </a:gridCol>
                <a:gridCol w="644918">
                  <a:extLst>
                    <a:ext uri="{9D8B030D-6E8A-4147-A177-3AD203B41FA5}">
                      <a16:colId xmlns:a16="http://schemas.microsoft.com/office/drawing/2014/main" val="3481598670"/>
                    </a:ext>
                  </a:extLst>
                </a:gridCol>
                <a:gridCol w="422664">
                  <a:extLst>
                    <a:ext uri="{9D8B030D-6E8A-4147-A177-3AD203B41FA5}">
                      <a16:colId xmlns:a16="http://schemas.microsoft.com/office/drawing/2014/main" val="3422648512"/>
                    </a:ext>
                  </a:extLst>
                </a:gridCol>
              </a:tblGrid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Group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Column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Param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363088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Age (y)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Placebo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15.00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097205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Age (y)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Treatment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13.00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922133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Age (y)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28.00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246490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Sex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Placebo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14.00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623954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Sex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Treatment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13.00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298597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Sex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27.00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578147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Age (y)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Mean (sd)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Placebo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mean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73.56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524636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Age (y)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Mean (sd)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Treatment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mean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74.231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248520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Age (y)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Mean (sd)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mean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71.84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66889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Age (y)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Mean (sd)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Placebo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9.347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389791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Age (y)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Mean (sd)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Treatment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7.234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9683"/>
                  </a:ext>
                </a:extLst>
              </a:tr>
              <a:tr h="3490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Age (y)</a:t>
                      </a:r>
                    </a:p>
                  </a:txBody>
                  <a:tcPr marL="6350" marR="6350" marT="635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Mean (sd)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8.293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9019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4E497FC-4689-0993-2E3D-8A8D460D2C83}"/>
              </a:ext>
            </a:extLst>
          </p:cNvPr>
          <p:cNvSpPr txBox="1"/>
          <p:nvPr/>
        </p:nvSpPr>
        <p:spPr>
          <a:xfrm>
            <a:off x="3413760" y="1434089"/>
            <a:ext cx="4173416" cy="5347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80000" tIns="180000" rIns="180000" bIns="18000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 err="1">
                <a:latin typeface="Consolas" panose="020B0609020204030204" pitchFamily="49" charset="0"/>
              </a:rPr>
              <a:t>body_plan</a:t>
            </a:r>
            <a:r>
              <a:rPr lang="en-GB" sz="1050">
                <a:latin typeface="Consolas" panose="020B0609020204030204" pitchFamily="49" charset="0"/>
              </a:rPr>
              <a:t>(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</a:t>
            </a:r>
            <a:r>
              <a:rPr lang="en-GB" sz="1050" err="1">
                <a:latin typeface="Consolas" panose="020B0609020204030204" pitchFamily="49" charset="0"/>
              </a:rPr>
              <a:t>frmt_structure</a:t>
            </a:r>
            <a:r>
              <a:rPr lang="en-GB" sz="1050">
                <a:latin typeface="Consolas" panose="020B0609020204030204" pitchFamily="49" charset="0"/>
              </a:rPr>
              <a:t>(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</a:t>
            </a:r>
            <a:r>
              <a:rPr lang="en-GB" sz="1050" err="1">
                <a:latin typeface="Consolas" panose="020B0609020204030204" pitchFamily="49" charset="0"/>
              </a:rPr>
              <a:t>group_val</a:t>
            </a:r>
            <a:r>
              <a:rPr lang="en-GB" sz="1050">
                <a:latin typeface="Consolas" panose="020B0609020204030204" pitchFamily="49" charset="0"/>
              </a:rPr>
              <a:t> = ".default", 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</a:t>
            </a:r>
            <a:r>
              <a:rPr lang="en-GB" sz="1050" err="1">
                <a:latin typeface="Consolas" panose="020B0609020204030204" pitchFamily="49" charset="0"/>
              </a:rPr>
              <a:t>label_val</a:t>
            </a:r>
            <a:r>
              <a:rPr lang="en-GB" sz="1050">
                <a:latin typeface="Consolas" panose="020B0609020204030204" pitchFamily="49" charset="0"/>
              </a:rPr>
              <a:t> = ".default",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</a:t>
            </a:r>
            <a:r>
              <a:rPr lang="en-GB" sz="1050" err="1">
                <a:latin typeface="Consolas" panose="020B0609020204030204" pitchFamily="49" charset="0"/>
              </a:rPr>
              <a:t>frmt_combine</a:t>
            </a:r>
            <a:r>
              <a:rPr lang="en-GB" sz="1050">
                <a:latin typeface="Consolas" panose="020B0609020204030204" pitchFamily="49" charset="0"/>
              </a:rPr>
              <a:t>("{n} ({pct}%)",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             n = </a:t>
            </a:r>
            <a:r>
              <a:rPr lang="en-GB" sz="1050" err="1">
                <a:latin typeface="Consolas" panose="020B0609020204030204" pitchFamily="49" charset="0"/>
              </a:rPr>
              <a:t>frmt</a:t>
            </a:r>
            <a:r>
              <a:rPr lang="en-GB" sz="1050">
                <a:latin typeface="Consolas" panose="020B0609020204030204" pitchFamily="49" charset="0"/>
              </a:rPr>
              <a:t>("X"),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             pct = </a:t>
            </a:r>
            <a:r>
              <a:rPr lang="en-GB" sz="1050" err="1">
                <a:latin typeface="Consolas" panose="020B0609020204030204" pitchFamily="49" charset="0"/>
              </a:rPr>
              <a:t>frmt</a:t>
            </a:r>
            <a:r>
              <a:rPr lang="en-GB" sz="1050">
                <a:latin typeface="Consolas" panose="020B0609020204030204" pitchFamily="49" charset="0"/>
              </a:rPr>
              <a:t>("</a:t>
            </a:r>
            <a:r>
              <a:rPr lang="en-GB" sz="1050" err="1">
                <a:latin typeface="Consolas" panose="020B0609020204030204" pitchFamily="49" charset="0"/>
              </a:rPr>
              <a:t>xx.x</a:t>
            </a:r>
            <a:r>
              <a:rPr lang="en-GB" sz="1050">
                <a:latin typeface="Consolas" panose="020B0609020204030204" pitchFamily="49" charset="0"/>
              </a:rPr>
              <a:t>")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             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),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</a:t>
            </a:r>
            <a:r>
              <a:rPr lang="en-GB" sz="1050" err="1">
                <a:latin typeface="Consolas" panose="020B0609020204030204" pitchFamily="49" charset="0"/>
              </a:rPr>
              <a:t>frmt_structure</a:t>
            </a:r>
            <a:r>
              <a:rPr lang="en-GB" sz="1050">
                <a:latin typeface="Consolas" panose="020B0609020204030204" pitchFamily="49" charset="0"/>
              </a:rPr>
              <a:t>(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</a:t>
            </a:r>
            <a:r>
              <a:rPr lang="en-GB" sz="1050" err="1">
                <a:latin typeface="Consolas" panose="020B0609020204030204" pitchFamily="49" charset="0"/>
              </a:rPr>
              <a:t>group_val</a:t>
            </a:r>
            <a:r>
              <a:rPr lang="en-GB" sz="1050">
                <a:latin typeface="Consolas" panose="020B0609020204030204" pitchFamily="49" charset="0"/>
              </a:rPr>
              <a:t> = ".default", 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</a:t>
            </a:r>
            <a:r>
              <a:rPr lang="en-GB" sz="1050" err="1">
                <a:latin typeface="Consolas" panose="020B0609020204030204" pitchFamily="49" charset="0"/>
              </a:rPr>
              <a:t>label_val</a:t>
            </a:r>
            <a:r>
              <a:rPr lang="en-GB" sz="1050">
                <a:latin typeface="Consolas" panose="020B0609020204030204" pitchFamily="49" charset="0"/>
              </a:rPr>
              <a:t> = "n", 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</a:t>
            </a:r>
            <a:r>
              <a:rPr lang="en-GB" sz="1050" err="1">
                <a:latin typeface="Consolas" panose="020B0609020204030204" pitchFamily="49" charset="0"/>
              </a:rPr>
              <a:t>frmt</a:t>
            </a:r>
            <a:r>
              <a:rPr lang="en-GB" sz="1050">
                <a:latin typeface="Consolas" panose="020B0609020204030204" pitchFamily="49" charset="0"/>
              </a:rPr>
              <a:t>("XX")),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</a:t>
            </a:r>
            <a:r>
              <a:rPr lang="en-GB" sz="1050" err="1">
                <a:latin typeface="Consolas" panose="020B0609020204030204" pitchFamily="49" charset="0"/>
              </a:rPr>
              <a:t>frmt_structure</a:t>
            </a:r>
            <a:r>
              <a:rPr lang="en-GB" sz="1050">
                <a:latin typeface="Consolas" panose="020B0609020204030204" pitchFamily="49" charset="0"/>
              </a:rPr>
              <a:t>(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</a:t>
            </a:r>
            <a:r>
              <a:rPr lang="en-GB" sz="1050" err="1">
                <a:latin typeface="Consolas" panose="020B0609020204030204" pitchFamily="49" charset="0"/>
              </a:rPr>
              <a:t>group_val</a:t>
            </a:r>
            <a:r>
              <a:rPr lang="en-GB" sz="1050">
                <a:latin typeface="Consolas" panose="020B0609020204030204" pitchFamily="49" charset="0"/>
              </a:rPr>
              <a:t> = "Age (y)", 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</a:t>
            </a:r>
            <a:r>
              <a:rPr lang="en-GB" sz="1050" err="1">
                <a:latin typeface="Consolas" panose="020B0609020204030204" pitchFamily="49" charset="0"/>
              </a:rPr>
              <a:t>label_val</a:t>
            </a:r>
            <a:r>
              <a:rPr lang="en-GB" sz="1050">
                <a:latin typeface="Consolas" panose="020B0609020204030204" pitchFamily="49" charset="0"/>
              </a:rPr>
              <a:t> = "Mean (</a:t>
            </a:r>
            <a:r>
              <a:rPr lang="en-GB" sz="1050" err="1">
                <a:latin typeface="Consolas" panose="020B0609020204030204" pitchFamily="49" charset="0"/>
              </a:rPr>
              <a:t>sd</a:t>
            </a:r>
            <a:r>
              <a:rPr lang="en-GB" sz="1050">
                <a:latin typeface="Consolas" panose="020B0609020204030204" pitchFamily="49" charset="0"/>
              </a:rPr>
              <a:t>)", 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</a:t>
            </a:r>
            <a:r>
              <a:rPr lang="en-GB" sz="1050" err="1">
                <a:latin typeface="Consolas" panose="020B0609020204030204" pitchFamily="49" charset="0"/>
              </a:rPr>
              <a:t>frmt_combine</a:t>
            </a:r>
            <a:r>
              <a:rPr lang="en-GB" sz="1050">
                <a:latin typeface="Consolas" panose="020B0609020204030204" pitchFamily="49" charset="0"/>
              </a:rPr>
              <a:t>("{mean}({SD})", 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             mean = </a:t>
            </a:r>
            <a:r>
              <a:rPr lang="en-GB" sz="1050" err="1">
                <a:latin typeface="Consolas" panose="020B0609020204030204" pitchFamily="49" charset="0"/>
              </a:rPr>
              <a:t>frmt</a:t>
            </a:r>
            <a:r>
              <a:rPr lang="en-GB" sz="1050">
                <a:latin typeface="Consolas" panose="020B0609020204030204" pitchFamily="49" charset="0"/>
              </a:rPr>
              <a:t>("XX.X"),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             SD = </a:t>
            </a:r>
            <a:r>
              <a:rPr lang="en-GB" sz="1050" err="1">
                <a:latin typeface="Consolas" panose="020B0609020204030204" pitchFamily="49" charset="0"/>
              </a:rPr>
              <a:t>frmt</a:t>
            </a:r>
            <a:r>
              <a:rPr lang="en-GB" sz="1050">
                <a:latin typeface="Consolas" panose="020B0609020204030204" pitchFamily="49" charset="0"/>
              </a:rPr>
              <a:t>("</a:t>
            </a:r>
            <a:r>
              <a:rPr lang="en-GB" sz="1050" err="1">
                <a:latin typeface="Consolas" panose="020B0609020204030204" pitchFamily="49" charset="0"/>
              </a:rPr>
              <a:t>x.xx</a:t>
            </a:r>
            <a:r>
              <a:rPr lang="en-GB" sz="1050">
                <a:latin typeface="Consolas" panose="020B0609020204030204" pitchFamily="49" charset="0"/>
              </a:rPr>
              <a:t>")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             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                 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1050">
                <a:latin typeface="Consolas" panose="020B0609020204030204" pitchFamily="49" charset="0"/>
              </a:rPr>
              <a:t>  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71A2BC-4F08-63FC-7E7B-72538745375A}"/>
              </a:ext>
            </a:extLst>
          </p:cNvPr>
          <p:cNvSpPr/>
          <p:nvPr/>
        </p:nvSpPr>
        <p:spPr bwMode="auto">
          <a:xfrm>
            <a:off x="3637914" y="1797443"/>
            <a:ext cx="3777647" cy="1884305"/>
          </a:xfrm>
          <a:prstGeom prst="roundRect">
            <a:avLst/>
          </a:pr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endParaRPr lang="en-GB" sz="1600" kern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B03D9F-568C-954B-70F5-FD9780E37D4E}"/>
              </a:ext>
            </a:extLst>
          </p:cNvPr>
          <p:cNvSpPr/>
          <p:nvPr/>
        </p:nvSpPr>
        <p:spPr bwMode="auto">
          <a:xfrm>
            <a:off x="3637913" y="3754009"/>
            <a:ext cx="3777647" cy="868534"/>
          </a:xfrm>
          <a:prstGeom prst="roundRect">
            <a:avLst/>
          </a:prstGeom>
          <a:solidFill>
            <a:schemeClr val="accent5">
              <a:alpha val="12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E98FB3-8CCE-EBE0-402C-DA0159AD1487}"/>
              </a:ext>
            </a:extLst>
          </p:cNvPr>
          <p:cNvSpPr/>
          <p:nvPr/>
        </p:nvSpPr>
        <p:spPr bwMode="auto">
          <a:xfrm>
            <a:off x="3611644" y="4694804"/>
            <a:ext cx="3777647" cy="1884305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4C8875-568E-16E0-4078-EEB3EF022B3C}"/>
              </a:ext>
            </a:extLst>
          </p:cNvPr>
          <p:cNvSpPr/>
          <p:nvPr/>
        </p:nvSpPr>
        <p:spPr bwMode="auto">
          <a:xfrm>
            <a:off x="9091766" y="3452691"/>
            <a:ext cx="3081454" cy="308225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CEA3BF-D811-2F25-E1E4-96B199262D15}"/>
              </a:ext>
            </a:extLst>
          </p:cNvPr>
          <p:cNvSpPr/>
          <p:nvPr/>
        </p:nvSpPr>
        <p:spPr bwMode="auto">
          <a:xfrm>
            <a:off x="9110546" y="3970116"/>
            <a:ext cx="3119014" cy="252413"/>
          </a:xfrm>
          <a:prstGeom prst="roundRect">
            <a:avLst/>
          </a:prstGeom>
          <a:solidFill>
            <a:schemeClr val="accent5">
              <a:alpha val="12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37352E3-CBFC-90F3-E0CE-16330F3E7D19}"/>
              </a:ext>
            </a:extLst>
          </p:cNvPr>
          <p:cNvSpPr/>
          <p:nvPr/>
        </p:nvSpPr>
        <p:spPr bwMode="auto">
          <a:xfrm>
            <a:off x="9072986" y="3225971"/>
            <a:ext cx="3119014" cy="252413"/>
          </a:xfrm>
          <a:prstGeom prst="roundRect">
            <a:avLst/>
          </a:prstGeom>
          <a:solidFill>
            <a:schemeClr val="accent5">
              <a:alpha val="12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A7150C-67B5-A078-C0F3-63F5E44F1F79}"/>
              </a:ext>
            </a:extLst>
          </p:cNvPr>
          <p:cNvSpPr/>
          <p:nvPr/>
        </p:nvSpPr>
        <p:spPr bwMode="auto">
          <a:xfrm>
            <a:off x="9090854" y="4229866"/>
            <a:ext cx="3081454" cy="510597"/>
          </a:xfrm>
          <a:prstGeom prst="roundRect">
            <a:avLst/>
          </a:prstGeom>
          <a:solidFill>
            <a:schemeClr val="accent4">
              <a:alpha val="22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72382B-3E66-59D3-FA72-F5127F673FFB}"/>
              </a:ext>
            </a:extLst>
          </p:cNvPr>
          <p:cNvSpPr/>
          <p:nvPr/>
        </p:nvSpPr>
        <p:spPr bwMode="auto">
          <a:xfrm>
            <a:off x="2711669" y="2021676"/>
            <a:ext cx="517550" cy="342337"/>
          </a:xfrm>
          <a:prstGeom prst="ellipse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B9D5304-E8DB-66C6-C496-7D66D434C708}"/>
              </a:ext>
            </a:extLst>
          </p:cNvPr>
          <p:cNvSpPr/>
          <p:nvPr/>
        </p:nvSpPr>
        <p:spPr bwMode="auto">
          <a:xfrm>
            <a:off x="9412724" y="3179439"/>
            <a:ext cx="517550" cy="342337"/>
          </a:xfrm>
          <a:prstGeom prst="ellipse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9" name="Arrow: U-Turn 18">
            <a:extLst>
              <a:ext uri="{FF2B5EF4-FFF2-40B4-BE49-F238E27FC236}">
                <a16:creationId xmlns:a16="http://schemas.microsoft.com/office/drawing/2014/main" id="{A755DCB7-CB72-072B-547B-70E358F78061}"/>
              </a:ext>
            </a:extLst>
          </p:cNvPr>
          <p:cNvSpPr/>
          <p:nvPr/>
        </p:nvSpPr>
        <p:spPr bwMode="auto">
          <a:xfrm rot="580015">
            <a:off x="3068491" y="1271423"/>
            <a:ext cx="6980935" cy="1306122"/>
          </a:xfrm>
          <a:prstGeom prst="uturnArrow">
            <a:avLst>
              <a:gd name="adj1" fmla="val 7788"/>
              <a:gd name="adj2" fmla="val 12793"/>
              <a:gd name="adj3" fmla="val 26217"/>
              <a:gd name="adj4" fmla="val 50000"/>
              <a:gd name="adj5" fmla="val 100000"/>
            </a:avLst>
          </a:prstGeom>
          <a:solidFill>
            <a:schemeClr val="accent5">
              <a:lumMod val="20000"/>
              <a:lumOff val="80000"/>
              <a:alpha val="27000"/>
            </a:schemeClr>
          </a:solidFill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14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078891-5F8D-5495-08E5-25BD705E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3" y="2087723"/>
            <a:ext cx="12192000" cy="4713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3F6831-8A2E-9B54-B953-3FEDEA697937}"/>
              </a:ext>
            </a:extLst>
          </p:cNvPr>
          <p:cNvSpPr txBox="1"/>
          <p:nvPr/>
        </p:nvSpPr>
        <p:spPr>
          <a:xfrm>
            <a:off x="178636" y="671951"/>
            <a:ext cx="376011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Validation Checks</a:t>
            </a:r>
          </a:p>
          <a:p>
            <a:r>
              <a:rPr lang="en-US" sz="2000" b="1" dirty="0"/>
              <a:t>v5 </a:t>
            </a:r>
            <a:r>
              <a:rPr lang="en-US" sz="2000" b="1" dirty="0" err="1"/>
              <a:t>xpt</a:t>
            </a:r>
            <a:r>
              <a:rPr lang="en-US" sz="2000" b="1" dirty="0"/>
              <a:t> ADSL dataset validation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6087F-B515-6582-705B-E438F407B2A6}"/>
              </a:ext>
            </a:extLst>
          </p:cNvPr>
          <p:cNvSpPr txBox="1"/>
          <p:nvPr/>
        </p:nvSpPr>
        <p:spPr>
          <a:xfrm>
            <a:off x="4093490" y="56398"/>
            <a:ext cx="31054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Apply types</a:t>
            </a:r>
          </a:p>
          <a:p>
            <a:r>
              <a:rPr lang="en-US" dirty="0"/>
              <a:t>Apply lengths</a:t>
            </a:r>
          </a:p>
          <a:p>
            <a:r>
              <a:rPr lang="en-US" dirty="0"/>
              <a:t>Apply variable labels</a:t>
            </a:r>
          </a:p>
          <a:p>
            <a:r>
              <a:rPr lang="en-US" dirty="0"/>
              <a:t>Apply formats</a:t>
            </a:r>
          </a:p>
          <a:p>
            <a:r>
              <a:rPr lang="en-US" dirty="0"/>
              <a:t>Re-order the variables</a:t>
            </a:r>
          </a:p>
          <a:p>
            <a:r>
              <a:rPr lang="en-US" dirty="0"/>
              <a:t>Apply a dataset label</a:t>
            </a:r>
          </a:p>
          <a:p>
            <a:r>
              <a:rPr lang="en-US" dirty="0"/>
              <a:t>Write out a version 5 </a:t>
            </a:r>
            <a:r>
              <a:rPr lang="en-US" dirty="0" err="1"/>
              <a:t>xpt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4098614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83B08C-8FE8-3B73-7239-36CC27EDD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559058"/>
              </p:ext>
            </p:extLst>
          </p:nvPr>
        </p:nvGraphicFramePr>
        <p:xfrm>
          <a:off x="155275" y="103516"/>
          <a:ext cx="11861320" cy="5736569"/>
        </p:xfrm>
        <a:graphic>
          <a:graphicData uri="http://schemas.openxmlformats.org/drawingml/2006/table">
            <a:tbl>
              <a:tblPr/>
              <a:tblGrid>
                <a:gridCol w="2226022">
                  <a:extLst>
                    <a:ext uri="{9D8B030D-6E8A-4147-A177-3AD203B41FA5}">
                      <a16:colId xmlns:a16="http://schemas.microsoft.com/office/drawing/2014/main" val="1001195710"/>
                    </a:ext>
                  </a:extLst>
                </a:gridCol>
                <a:gridCol w="6761158">
                  <a:extLst>
                    <a:ext uri="{9D8B030D-6E8A-4147-A177-3AD203B41FA5}">
                      <a16:colId xmlns:a16="http://schemas.microsoft.com/office/drawing/2014/main" val="3111905127"/>
                    </a:ext>
                  </a:extLst>
                </a:gridCol>
                <a:gridCol w="2874140">
                  <a:extLst>
                    <a:ext uri="{9D8B030D-6E8A-4147-A177-3AD203B41FA5}">
                      <a16:colId xmlns:a16="http://schemas.microsoft.com/office/drawing/2014/main" val="1056627157"/>
                    </a:ext>
                  </a:extLst>
                </a:gridCol>
              </a:tblGrid>
              <a:tr h="6871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Phase</a:t>
                      </a:r>
                    </a:p>
                  </a:txBody>
                  <a:tcPr marL="142875" marR="142875" marT="114300" marB="114300" anchor="ctr">
                    <a:lnL w="9525" cap="flat" cmpd="sng" algn="ctr">
                      <a:solidFill>
                        <a:srgbClr val="2C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What We Check</a:t>
                      </a:r>
                    </a:p>
                  </a:txBody>
                  <a:tcPr marL="142875" marR="142875" marT="114300" marB="114300" anchor="ctr">
                    <a:lnL w="9525" cap="flat" cmpd="sng" algn="ctr">
                      <a:solidFill>
                        <a:srgbClr val="2C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</a:rPr>
                        <a:t>R Package</a:t>
                      </a:r>
                    </a:p>
                  </a:txBody>
                  <a:tcPr marL="142875" marR="142875" marT="114300" marB="114300" anchor="ctr">
                    <a:lnL w="9525" cap="flat" cmpd="sng" algn="ctr">
                      <a:solidFill>
                        <a:srgbClr val="2C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555012"/>
                  </a:ext>
                </a:extLst>
              </a:tr>
              <a:tr h="100988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1F2D3D"/>
                          </a:solidFill>
                          <a:effectLst/>
                        </a:rPr>
                        <a:t>SDTM</a:t>
                      </a:r>
                      <a:endParaRPr lang="en-US">
                        <a:solidFill>
                          <a:srgbClr val="1F2D3D"/>
                        </a:solidFill>
                        <a:effectLst/>
                      </a:endParaRP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solidFill>
                            <a:srgbClr val="1F2D3D"/>
                          </a:solidFill>
                          <a:effectLst/>
                        </a:rPr>
                        <a:t>Controlled terms, duplicate USUBJID, required variables, domain structure</a:t>
                      </a: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{metatools}</a:t>
                      </a:r>
                      <a:r>
                        <a:rPr lang="en-US">
                          <a:solidFill>
                            <a:srgbClr val="1F2D3D"/>
                          </a:solidFill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{sdtmchecks}</a:t>
                      </a:r>
                      <a:endParaRPr lang="en-US">
                        <a:solidFill>
                          <a:srgbClr val="1F2D3D"/>
                        </a:solidFill>
                        <a:effectLst/>
                      </a:endParaRP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232596"/>
                  </a:ext>
                </a:extLst>
              </a:tr>
              <a:tr h="100988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1F2D3D"/>
                          </a:solidFill>
                          <a:effectLst/>
                        </a:rPr>
                        <a:t>ADaM</a:t>
                      </a:r>
                      <a:endParaRPr lang="en-US">
                        <a:solidFill>
                          <a:srgbClr val="1F2D3D"/>
                        </a:solidFill>
                        <a:effectLst/>
                      </a:endParaRP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solidFill>
                            <a:srgbClr val="1F2D3D"/>
                          </a:solidFill>
                          <a:effectLst/>
                        </a:rPr>
                        <a:t>Variable names ≤8, labels ≤40, no non‑ASCII, correct types/lengths, dataset label ≤40</a:t>
                      </a: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dirty="0" err="1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xportr</a:t>
                      </a:r>
                      <a:r>
                        <a:rPr lang="en-US" dirty="0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dirty="0">
                        <a:solidFill>
                          <a:srgbClr val="1F2D3D"/>
                        </a:solidFill>
                        <a:effectLst/>
                      </a:endParaRP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032655"/>
                  </a:ext>
                </a:extLst>
              </a:tr>
              <a:tr h="100988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1F2D3D"/>
                          </a:solidFill>
                          <a:effectLst/>
                        </a:rPr>
                        <a:t>ADSL vs. DM</a:t>
                      </a:r>
                      <a:endParaRPr lang="en-US">
                        <a:solidFill>
                          <a:srgbClr val="1F2D3D"/>
                        </a:solidFill>
                        <a:effectLst/>
                      </a:endParaRP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solidFill>
                            <a:srgbClr val="1F2D3D"/>
                          </a:solidFill>
                          <a:effectLst/>
                        </a:rPr>
                        <a:t>Subject‑level consistency (counts, keys, death dates, treatment flags)</a:t>
                      </a: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{diffdf}</a:t>
                      </a:r>
                      <a:endParaRPr lang="en-US">
                        <a:solidFill>
                          <a:srgbClr val="1F2D3D"/>
                        </a:solidFill>
                        <a:effectLst/>
                      </a:endParaRP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258184"/>
                  </a:ext>
                </a:extLst>
              </a:tr>
              <a:tr h="100988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1F2D3D"/>
                          </a:solidFill>
                          <a:effectLst/>
                        </a:rPr>
                        <a:t>Dashboard</a:t>
                      </a:r>
                      <a:endParaRPr lang="en-US">
                        <a:solidFill>
                          <a:srgbClr val="1F2D3D"/>
                        </a:solidFill>
                        <a:effectLst/>
                      </a:endParaRP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solidFill>
                            <a:srgbClr val="1F2D3D"/>
                          </a:solidFill>
                          <a:effectLst/>
                        </a:rPr>
                        <a:t>Counts, means, KM estimates vs. independent R calculations</a:t>
                      </a: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{dplyr}</a:t>
                      </a:r>
                      <a:r>
                        <a:rPr lang="en-US">
                          <a:solidFill>
                            <a:srgbClr val="1F2D3D"/>
                          </a:solidFill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{survival}</a:t>
                      </a:r>
                      <a:endParaRPr lang="en-US">
                        <a:solidFill>
                          <a:srgbClr val="1F2D3D"/>
                        </a:solidFill>
                        <a:effectLst/>
                      </a:endParaRP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756555"/>
                  </a:ext>
                </a:extLst>
              </a:tr>
              <a:tr h="100988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1F2D3D"/>
                          </a:solidFill>
                          <a:effectLst/>
                        </a:rPr>
                        <a:t>Final XPT</a:t>
                      </a:r>
                      <a:endParaRPr lang="en-US">
                        <a:solidFill>
                          <a:srgbClr val="1F2D3D"/>
                        </a:solidFill>
                        <a:effectLst/>
                      </a:endParaRP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solidFill>
                            <a:srgbClr val="1F2D3D"/>
                          </a:solidFill>
                          <a:effectLst/>
                        </a:rPr>
                        <a:t>Write CDISC v5 XPT, enforce metadata, generate validation log</a:t>
                      </a: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dirty="0" err="1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xportr</a:t>
                      </a:r>
                      <a:r>
                        <a:rPr lang="en-US" dirty="0">
                          <a:solidFill>
                            <a:srgbClr val="0C4A6E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dirty="0">
                        <a:solidFill>
                          <a:srgbClr val="1F2D3D"/>
                        </a:solidFill>
                        <a:effectLst/>
                      </a:endParaRPr>
                    </a:p>
                  </a:txBody>
                  <a:tcPr marL="142875" marR="142875" marT="95250" marB="95250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04421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D675040-971F-52F5-0EED-BF87882C3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894" y="6065301"/>
            <a:ext cx="11312106" cy="535025"/>
          </a:xfrm>
          <a:prstGeom prst="rect">
            <a:avLst/>
          </a:prstGeom>
          <a:solidFill>
            <a:srgbClr val="F0F4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1E5F7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All checks produce a consolidated pass/fail log – no manual intervention.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F172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F172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Each validation step is version‑controlled and runs automatically within the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C4A6E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targets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F172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pipeline. End‑to‑end validation report generated with timestamps, dataset versions, and pass/fail status.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155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A7FC2B-44AE-23BA-86BB-6DDAC2590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470"/>
            <a:ext cx="12192000" cy="643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19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A69D5C-D400-8874-ED36-605CC22F9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92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DF6D38-B1C2-FC96-2E48-9A9AE15B7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24"/>
            <a:ext cx="1219200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18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0143332-DD8E-BDF1-5253-1B2CB6E3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130" y="-23247"/>
            <a:ext cx="9989872" cy="28439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1A0697-6037-F311-8265-870337A33130}"/>
              </a:ext>
            </a:extLst>
          </p:cNvPr>
          <p:cNvSpPr txBox="1"/>
          <p:nvPr/>
        </p:nvSpPr>
        <p:spPr>
          <a:xfrm>
            <a:off x="2086708" y="2886536"/>
            <a:ext cx="993344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Variable names must start with a letter (not an underscore), be comprised of only uppercase letters (A-Z), numerals (0-9) and be free of non-ASCII characters, symbols, and underscores.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Allotted length for each column containing character (text) data should be set to the maximum length of the variable used across all data sets (≤ 200)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Coerces variables to only numeric or character types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Display format support for numeric float and date/time values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Variables names are ≤ 8 characters.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Variable labels are ≤ 40 characters.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Data set labels are ≤ 40 characters.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Presence of non-ASCII characters in Variable Names, Labels or data set labels.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D0E96-129B-BA98-C155-E87A88FAFF46}"/>
              </a:ext>
            </a:extLst>
          </p:cNvPr>
          <p:cNvSpPr txBox="1"/>
          <p:nvPr/>
        </p:nvSpPr>
        <p:spPr>
          <a:xfrm>
            <a:off x="0" y="421531"/>
            <a:ext cx="2030278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3200" b="1" i="0" dirty="0">
                <a:solidFill>
                  <a:srgbClr val="1F2328"/>
                </a:solidFill>
                <a:effectLst/>
                <a:latin typeface="Mona Sans VF"/>
              </a:rPr>
              <a:t>Validation Checks</a:t>
            </a:r>
          </a:p>
          <a:p>
            <a:pPr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1F2328"/>
                </a:solidFill>
                <a:latin typeface="Mona Sans VF"/>
              </a:rPr>
              <a:t>{</a:t>
            </a:r>
            <a:r>
              <a:rPr lang="en-US" sz="3200" b="1" dirty="0" err="1">
                <a:solidFill>
                  <a:srgbClr val="1F2328"/>
                </a:solidFill>
                <a:latin typeface="Mona Sans VF"/>
              </a:rPr>
              <a:t>xportr</a:t>
            </a:r>
            <a:r>
              <a:rPr lang="en-US" sz="3200" b="1" dirty="0">
                <a:solidFill>
                  <a:srgbClr val="1F2328"/>
                </a:solidFill>
                <a:latin typeface="Mona Sans VF"/>
              </a:rPr>
              <a:t>}</a:t>
            </a:r>
            <a:endParaRPr lang="en-US" sz="3200" b="1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1341335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6AAE-FCC9-82FC-25DB-4FF033E45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Means for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A931A-268D-2E6B-0B3C-77715CEE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Reproducible</a:t>
            </a:r>
            <a:r>
              <a:rPr lang="en-US" dirty="0"/>
              <a:t> – One script runs from raw data to dashboard. No black boxes.</a:t>
            </a:r>
          </a:p>
          <a:p>
            <a:r>
              <a:rPr lang="en-US" b="1" dirty="0"/>
              <a:t>CDISC compliant</a:t>
            </a:r>
            <a:r>
              <a:rPr lang="en-US" dirty="0"/>
              <a:t> – SDTM, </a:t>
            </a:r>
            <a:r>
              <a:rPr lang="en-US" dirty="0" err="1"/>
              <a:t>ADaM</a:t>
            </a:r>
            <a:r>
              <a:rPr lang="en-US" dirty="0"/>
              <a:t>, and v5 XPT ready for submission.</a:t>
            </a:r>
          </a:p>
          <a:p>
            <a:r>
              <a:rPr lang="en-US" b="1" dirty="0"/>
              <a:t>Fully validated</a:t>
            </a:r>
            <a:r>
              <a:rPr lang="en-US" dirty="0"/>
              <a:t> – Every step has automated checks with a clear pass/fail log.</a:t>
            </a:r>
          </a:p>
          <a:p>
            <a:r>
              <a:rPr lang="en-US" b="1" dirty="0"/>
              <a:t>Adaptable</a:t>
            </a:r>
            <a:r>
              <a:rPr lang="en-US" dirty="0"/>
              <a:t> – Handles mixed CDASH/non‑CDASH sources (like your VS domain) with minimal changes.</a:t>
            </a:r>
          </a:p>
          <a:p>
            <a:r>
              <a:rPr lang="en-US" b="1" dirty="0"/>
              <a:t>Interactive</a:t>
            </a:r>
            <a:r>
              <a:rPr lang="en-US" dirty="0"/>
              <a:t> – Stakeholders can explore data without writing R code.</a:t>
            </a:r>
          </a:p>
          <a:p>
            <a:r>
              <a:rPr lang="en-US" b="1" dirty="0"/>
              <a:t>Auditable</a:t>
            </a:r>
            <a:r>
              <a:rPr lang="en-US" dirty="0"/>
              <a:t> – Timestamped validation reports for regulatory review.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514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9054-AD13-153D-5393-E21C7C6B8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581795D-A948-C883-5B83-FBEFC0742770}"/>
              </a:ext>
            </a:extLst>
          </p:cNvPr>
          <p:cNvSpPr txBox="1">
            <a:spLocks/>
          </p:cNvSpPr>
          <p:nvPr/>
        </p:nvSpPr>
        <p:spPr>
          <a:xfrm>
            <a:off x="64728" y="1289615"/>
            <a:ext cx="12012253" cy="1466491"/>
          </a:xfrm>
          <a:custGeom>
            <a:avLst/>
            <a:gdLst>
              <a:gd name="connsiteX0" fmla="*/ 185682 w 11460164"/>
              <a:gd name="connsiteY0" fmla="*/ 0 h 4484800"/>
              <a:gd name="connsiteX1" fmla="*/ 11274482 w 11460164"/>
              <a:gd name="connsiteY1" fmla="*/ 0 h 4484800"/>
              <a:gd name="connsiteX2" fmla="*/ 11460164 w 11460164"/>
              <a:gd name="connsiteY2" fmla="*/ 185682 h 4484800"/>
              <a:gd name="connsiteX3" fmla="*/ 11460164 w 11460164"/>
              <a:gd name="connsiteY3" fmla="*/ 456183 h 4484800"/>
              <a:gd name="connsiteX4" fmla="*/ 11460164 w 11460164"/>
              <a:gd name="connsiteY4" fmla="*/ 715601 h 4484800"/>
              <a:gd name="connsiteX5" fmla="*/ 11460164 w 11460164"/>
              <a:gd name="connsiteY5" fmla="*/ 4299118 h 4484800"/>
              <a:gd name="connsiteX6" fmla="*/ 11274482 w 11460164"/>
              <a:gd name="connsiteY6" fmla="*/ 4484800 h 4484800"/>
              <a:gd name="connsiteX7" fmla="*/ 185682 w 11460164"/>
              <a:gd name="connsiteY7" fmla="*/ 4484800 h 4484800"/>
              <a:gd name="connsiteX8" fmla="*/ 0 w 11460164"/>
              <a:gd name="connsiteY8" fmla="*/ 4299118 h 4484800"/>
              <a:gd name="connsiteX9" fmla="*/ 0 w 11460164"/>
              <a:gd name="connsiteY9" fmla="*/ 715601 h 4484800"/>
              <a:gd name="connsiteX10" fmla="*/ 0 w 11460164"/>
              <a:gd name="connsiteY10" fmla="*/ 456183 h 4484800"/>
              <a:gd name="connsiteX11" fmla="*/ 0 w 11460164"/>
              <a:gd name="connsiteY11" fmla="*/ 185682 h 4484800"/>
              <a:gd name="connsiteX12" fmla="*/ 185682 w 11460164"/>
              <a:gd name="connsiteY12" fmla="*/ 0 h 448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460164" h="4484800">
                <a:moveTo>
                  <a:pt x="185682" y="0"/>
                </a:moveTo>
                <a:lnTo>
                  <a:pt x="11274482" y="0"/>
                </a:lnTo>
                <a:cubicBezTo>
                  <a:pt x="11377031" y="0"/>
                  <a:pt x="11460164" y="83133"/>
                  <a:pt x="11460164" y="185682"/>
                </a:cubicBezTo>
                <a:lnTo>
                  <a:pt x="11460164" y="456183"/>
                </a:lnTo>
                <a:lnTo>
                  <a:pt x="11460164" y="715601"/>
                </a:lnTo>
                <a:lnTo>
                  <a:pt x="11460164" y="4299118"/>
                </a:lnTo>
                <a:cubicBezTo>
                  <a:pt x="11460164" y="4401667"/>
                  <a:pt x="11377031" y="4484800"/>
                  <a:pt x="11274482" y="4484800"/>
                </a:cubicBezTo>
                <a:lnTo>
                  <a:pt x="185682" y="4484800"/>
                </a:lnTo>
                <a:cubicBezTo>
                  <a:pt x="83133" y="4484800"/>
                  <a:pt x="0" y="4401667"/>
                  <a:pt x="0" y="4299118"/>
                </a:cubicBezTo>
                <a:lnTo>
                  <a:pt x="0" y="715601"/>
                </a:lnTo>
                <a:lnTo>
                  <a:pt x="0" y="456183"/>
                </a:lnTo>
                <a:lnTo>
                  <a:pt x="0" y="185682"/>
                </a:lnTo>
                <a:cubicBezTo>
                  <a:pt x="0" y="83133"/>
                  <a:pt x="83133" y="0"/>
                  <a:pt x="185682" y="0"/>
                </a:cubicBezTo>
                <a:close/>
              </a:path>
            </a:pathLst>
          </a:cu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3200" dirty="0"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76604A-A758-D048-A113-BF4719F60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67937"/>
            <a:ext cx="11460163" cy="430887"/>
          </a:xfrm>
        </p:spPr>
        <p:txBody>
          <a:bodyPr>
            <a:noAutofit/>
          </a:bodyPr>
          <a:lstStyle/>
          <a:p>
            <a:br>
              <a:rPr lang="en-GB" sz="6000" dirty="0">
                <a:cs typeface="Calibri"/>
              </a:rPr>
            </a:br>
            <a:endParaRPr lang="en-GB" sz="6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645545-21C5-AD53-466C-3928644EB4D4}"/>
              </a:ext>
            </a:extLst>
          </p:cNvPr>
          <p:cNvSpPr txBox="1"/>
          <p:nvPr/>
        </p:nvSpPr>
        <p:spPr>
          <a:xfrm>
            <a:off x="8433320" y="1289615"/>
            <a:ext cx="3657600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Clr>
                <a:schemeClr val="tx2"/>
              </a:buClr>
              <a:buSzPct val="110000"/>
            </a:pPr>
            <a:r>
              <a:rPr lang="en-GB" sz="1600" b="1" dirty="0">
                <a:solidFill>
                  <a:schemeClr val="tx1"/>
                </a:solidFill>
              </a:rPr>
              <a:t>{</a:t>
            </a:r>
            <a:r>
              <a:rPr lang="en-GB" sz="1600" b="1" dirty="0" err="1">
                <a:solidFill>
                  <a:schemeClr val="tx1"/>
                </a:solidFill>
              </a:rPr>
              <a:t>Tplyr</a:t>
            </a:r>
            <a:r>
              <a:rPr lang="en-GB" sz="1600" b="1" dirty="0">
                <a:solidFill>
                  <a:schemeClr val="tx1"/>
                </a:solidFill>
              </a:rPr>
              <a:t>} Create standard descriptive statistics from ADAMs </a:t>
            </a:r>
          </a:p>
          <a:p>
            <a:pPr eaLnBrk="0" hangingPunct="0">
              <a:buClr>
                <a:schemeClr val="tx2"/>
              </a:buClr>
              <a:buSzPct val="110000"/>
            </a:pPr>
            <a:r>
              <a:rPr lang="en-GB" sz="11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tplyr_table</a:t>
            </a:r>
            <a:r>
              <a:rPr lang="en-GB" sz="11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050" kern="0" dirty="0">
                <a:solidFill>
                  <a:schemeClr val="tx1"/>
                </a:solidFill>
                <a:cs typeface="Courier New" panose="02070309020205020404" pitchFamily="49" charset="0"/>
              </a:rPr>
              <a:t>Setup a table </a:t>
            </a:r>
            <a:r>
              <a:rPr lang="en-GB" sz="105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add_layer</a:t>
            </a:r>
            <a:r>
              <a:rPr lang="en-GB" sz="11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050" kern="0" dirty="0">
                <a:solidFill>
                  <a:schemeClr val="tx1"/>
                </a:solidFill>
                <a:cs typeface="Courier New" panose="02070309020205020404" pitchFamily="49" charset="0"/>
              </a:rPr>
              <a:t>Adds a layer to build descriptive stats on </a:t>
            </a:r>
          </a:p>
          <a:p>
            <a:pPr marL="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group_count</a:t>
            </a:r>
            <a:r>
              <a:rPr lang="en-GB" sz="11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050" kern="0" dirty="0">
                <a:solidFill>
                  <a:schemeClr val="tx1"/>
                </a:solidFill>
                <a:cs typeface="Courier New" panose="02070309020205020404" pitchFamily="49" charset="0"/>
              </a:rPr>
              <a:t>Calculates count based descriptive stats </a:t>
            </a:r>
            <a:endParaRPr lang="en-GB" sz="11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group_desc</a:t>
            </a:r>
            <a:r>
              <a:rPr lang="en-GB" sz="11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050" kern="0" dirty="0">
                <a:solidFill>
                  <a:schemeClr val="tx1"/>
                </a:solidFill>
                <a:cs typeface="Courier New" panose="02070309020205020404" pitchFamily="49" charset="0"/>
              </a:rPr>
              <a:t>Calculates continuous descriptive stats </a:t>
            </a:r>
          </a:p>
          <a:p>
            <a:pPr marL="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add_total_group</a:t>
            </a:r>
            <a:r>
              <a:rPr lang="en-GB" sz="11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050" kern="0" dirty="0">
                <a:solidFill>
                  <a:schemeClr val="tx1"/>
                </a:solidFill>
                <a:cs typeface="Courier New" panose="02070309020205020404" pitchFamily="49" charset="0"/>
              </a:rPr>
              <a:t>Adds totals column </a:t>
            </a:r>
          </a:p>
          <a:p>
            <a:pPr marL="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get_numeric_data</a:t>
            </a:r>
            <a:r>
              <a:rPr lang="en-GB" sz="11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050" kern="0" dirty="0">
                <a:solidFill>
                  <a:schemeClr val="tx1"/>
                </a:solidFill>
                <a:cs typeface="Courier New" panose="02070309020205020404" pitchFamily="49" charset="0"/>
              </a:rPr>
              <a:t>Pulls out an ARD from a </a:t>
            </a:r>
            <a:r>
              <a:rPr lang="en-GB" sz="1050" kern="0" dirty="0" err="1">
                <a:solidFill>
                  <a:schemeClr val="tx1"/>
                </a:solidFill>
                <a:cs typeface="Courier New" panose="02070309020205020404" pitchFamily="49" charset="0"/>
              </a:rPr>
              <a:t>Tplyr</a:t>
            </a:r>
            <a:r>
              <a:rPr lang="en-GB" sz="1050" kern="0" dirty="0">
                <a:solidFill>
                  <a:schemeClr val="tx1"/>
                </a:solidFill>
                <a:cs typeface="Courier New" panose="02070309020205020404" pitchFamily="49" charset="0"/>
              </a:rPr>
              <a:t> table </a:t>
            </a:r>
          </a:p>
          <a:p>
            <a:pPr marL="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set_distinct_by</a:t>
            </a:r>
            <a:r>
              <a:rPr lang="en-GB" sz="11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050" kern="0" dirty="0">
                <a:solidFill>
                  <a:schemeClr val="tx1"/>
                </a:solidFill>
                <a:cs typeface="Courier New" panose="02070309020205020404" pitchFamily="49" charset="0"/>
              </a:rPr>
              <a:t>Sets how to count distinct subjects</a:t>
            </a:r>
            <a:endParaRPr lang="en-GB" sz="4400" kern="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A5077-835D-39FC-D517-67D2B5AC75F5}"/>
              </a:ext>
            </a:extLst>
          </p:cNvPr>
          <p:cNvSpPr txBox="1"/>
          <p:nvPr/>
        </p:nvSpPr>
        <p:spPr>
          <a:xfrm>
            <a:off x="0" y="4492306"/>
            <a:ext cx="3531677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Clr>
                <a:schemeClr val="tx2"/>
              </a:buClr>
              <a:buSzPct val="110000"/>
            </a:pPr>
            <a:r>
              <a:rPr lang="en-GB" b="1" dirty="0">
                <a:solidFill>
                  <a:schemeClr val="tx1"/>
                </a:solidFill>
              </a:rPr>
              <a:t>{admiral} </a:t>
            </a:r>
            <a:r>
              <a:rPr lang="en-GB" kern="0" dirty="0">
                <a:solidFill>
                  <a:schemeClr val="tx1"/>
                </a:solidFill>
              </a:rPr>
              <a:t>: 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derive_vars_merged_dtm</a:t>
            </a:r>
            <a:r>
              <a:rPr lang="en-GB" sz="12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>
                <a:solidFill>
                  <a:schemeClr val="tx1"/>
                </a:solidFill>
                <a:cs typeface="Courier New" panose="02070309020205020404" pitchFamily="49" charset="0"/>
              </a:rPr>
              <a:t>Merge and impute datetime variables </a:t>
            </a:r>
            <a:r>
              <a:rPr lang="en-GB" sz="11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derive_var_merged_exist_flag</a:t>
            </a:r>
            <a:r>
              <a:rPr lang="en-GB" sz="12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>
                <a:solidFill>
                  <a:schemeClr val="tx1"/>
                </a:solidFill>
                <a:cs typeface="Courier New" panose="02070309020205020404" pitchFamily="49" charset="0"/>
              </a:rPr>
              <a:t>Merge an existing flag </a:t>
            </a:r>
            <a:endParaRPr lang="en-GB" sz="12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compute_bmi</a:t>
            </a:r>
            <a:r>
              <a:rPr lang="en-GB" sz="12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>
                <a:solidFill>
                  <a:schemeClr val="tx1"/>
                </a:solidFill>
                <a:cs typeface="Courier New" panose="02070309020205020404" pitchFamily="49" charset="0"/>
              </a:rPr>
              <a:t>Computes BMI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derive_var_base</a:t>
            </a:r>
            <a:r>
              <a:rPr lang="en-GB" sz="11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100" kern="0" dirty="0">
                <a:solidFill>
                  <a:schemeClr val="tx1"/>
                </a:solidFill>
                <a:cs typeface="Courier New" panose="02070309020205020404" pitchFamily="49" charset="0"/>
              </a:rPr>
              <a:t>Creates a baseline column from flag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6C74B1-1640-DCA9-606A-6252D55CFCC5}"/>
              </a:ext>
            </a:extLst>
          </p:cNvPr>
          <p:cNvSpPr txBox="1"/>
          <p:nvPr/>
        </p:nvSpPr>
        <p:spPr>
          <a:xfrm>
            <a:off x="0" y="1106764"/>
            <a:ext cx="4771541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Clr>
                <a:schemeClr val="tx2"/>
              </a:buClr>
              <a:buSzPct val="110000"/>
            </a:pPr>
            <a:r>
              <a:rPr lang="en-GB" sz="2000" b="1" dirty="0">
                <a:solidFill>
                  <a:schemeClr val="tx1"/>
                </a:solidFill>
              </a:rPr>
              <a:t>{</a:t>
            </a:r>
            <a:r>
              <a:rPr lang="en-GB" sz="2000" b="1" dirty="0" err="1">
                <a:solidFill>
                  <a:schemeClr val="tx1"/>
                </a:solidFill>
              </a:rPr>
              <a:t>metatools</a:t>
            </a:r>
            <a:r>
              <a:rPr lang="en-GB" sz="2000" b="1" dirty="0">
                <a:solidFill>
                  <a:schemeClr val="tx1"/>
                </a:solidFill>
              </a:rPr>
              <a:t>}</a:t>
            </a:r>
            <a:r>
              <a:rPr lang="en-GB" sz="2000" b="1" dirty="0"/>
              <a:t> 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build_from_derived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Builds a dataset based on all predecessors </a:t>
            </a:r>
            <a:r>
              <a:rPr lang="en-GB" sz="12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combine_supp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Combines supps and domains 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create_var_from_codelist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Creates a new variable based on code/decode</a:t>
            </a:r>
            <a:endParaRPr lang="en-GB" sz="1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create_cat_var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Creates a categorial variable from continues based on </a:t>
            </a:r>
            <a:r>
              <a:rPr lang="en-GB" sz="1200" kern="0" dirty="0" err="1">
                <a:solidFill>
                  <a:schemeClr val="tx1"/>
                </a:solidFill>
                <a:cs typeface="Courier New" panose="02070309020205020404" pitchFamily="49" charset="0"/>
              </a:rPr>
              <a:t>codelist</a:t>
            </a: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  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order_cols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Orders the columns per metadata definitions 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set_variable_labels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Adds labels to all columns per metadata definitions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check_ct_data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Checks all values fall within control terms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1E9545-3B99-E5F8-21E6-B51410798FFE}"/>
              </a:ext>
            </a:extLst>
          </p:cNvPr>
          <p:cNvSpPr txBox="1"/>
          <p:nvPr/>
        </p:nvSpPr>
        <p:spPr>
          <a:xfrm>
            <a:off x="4386042" y="1191884"/>
            <a:ext cx="37757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Clr>
                <a:schemeClr val="tx2"/>
              </a:buClr>
              <a:buSzPct val="110000"/>
            </a:pPr>
            <a:r>
              <a:rPr lang="en-GB" b="1" dirty="0">
                <a:solidFill>
                  <a:schemeClr val="tx1"/>
                </a:solidFill>
              </a:rPr>
              <a:t>{</a:t>
            </a:r>
            <a:r>
              <a:rPr lang="en-GB" b="1" dirty="0" err="1">
                <a:solidFill>
                  <a:schemeClr val="tx1"/>
                </a:solidFill>
              </a:rPr>
              <a:t>metacore</a:t>
            </a:r>
            <a:r>
              <a:rPr lang="en-GB" b="1" dirty="0">
                <a:solidFill>
                  <a:schemeClr val="tx1"/>
                </a:solidFill>
              </a:rPr>
              <a:t>} </a:t>
            </a:r>
          </a:p>
          <a:p>
            <a:pPr eaLnBrk="0" hangingPunct="0">
              <a:buClr>
                <a:schemeClr val="tx2"/>
              </a:buClr>
              <a:buSzPct val="110000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spec_to_metacore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Reads a P21 spec into </a:t>
            </a:r>
            <a:r>
              <a:rPr lang="en-GB" sz="1200" kern="0" dirty="0" err="1">
                <a:solidFill>
                  <a:schemeClr val="tx1"/>
                </a:solidFill>
                <a:cs typeface="Courier New" panose="02070309020205020404" pitchFamily="49" charset="0"/>
              </a:rPr>
              <a:t>metacore</a:t>
            </a:r>
            <a:endParaRPr lang="en-GB" sz="12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 algn="l" eaLnBrk="0" fontAlgn="auto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select_dataset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Select a single dataset of metadata</a:t>
            </a:r>
          </a:p>
          <a:p>
            <a:pPr marL="285750" indent="-285750" algn="l" eaLnBrk="0" fontAlgn="auto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get_control_term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Pulls out the control terms for a variable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88F2E-524F-DE8D-ECBB-1699467EE749}"/>
              </a:ext>
            </a:extLst>
          </p:cNvPr>
          <p:cNvSpPr txBox="1"/>
          <p:nvPr/>
        </p:nvSpPr>
        <p:spPr>
          <a:xfrm>
            <a:off x="4386042" y="3047951"/>
            <a:ext cx="404727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Clr>
                <a:schemeClr val="tx2"/>
              </a:buClr>
              <a:buSzPct val="110000"/>
            </a:pPr>
            <a:r>
              <a:rPr lang="en-GB" sz="1600" b="1" dirty="0">
                <a:solidFill>
                  <a:schemeClr val="tx1"/>
                </a:solidFill>
              </a:rPr>
              <a:t>{</a:t>
            </a:r>
            <a:r>
              <a:rPr lang="en-GB" sz="1600" b="1" dirty="0" err="1">
                <a:solidFill>
                  <a:schemeClr val="tx1"/>
                </a:solidFill>
              </a:rPr>
              <a:t>tfrmt</a:t>
            </a:r>
            <a:r>
              <a:rPr lang="en-GB" sz="1600" b="1" dirty="0">
                <a:solidFill>
                  <a:schemeClr val="tx1"/>
                </a:solidFill>
              </a:rPr>
              <a:t>}</a:t>
            </a:r>
            <a:r>
              <a:rPr lang="en-GB" sz="1600" b="1" dirty="0"/>
              <a:t> </a:t>
            </a:r>
            <a:r>
              <a:rPr lang="en-GB" sz="1100" dirty="0">
                <a:solidFill>
                  <a:schemeClr val="tx1"/>
                </a:solidFill>
                <a:highlight>
                  <a:srgbClr val="FFFF00"/>
                </a:highlight>
              </a:rPr>
              <a:t>ARD</a:t>
            </a:r>
            <a:r>
              <a:rPr lang="en-GB" sz="1100" dirty="0">
                <a:solidFill>
                  <a:schemeClr val="tx1"/>
                </a:solidFill>
              </a:rPr>
              <a:t>s (Analysis Result Datasets)</a:t>
            </a:r>
            <a:endParaRPr lang="en-GB" sz="1100" b="1" dirty="0">
              <a:solidFill>
                <a:schemeClr val="tx1"/>
              </a:solidFill>
            </a:endParaRPr>
          </a:p>
          <a:p>
            <a:pPr eaLnBrk="0" hangingPunct="0">
              <a:buClr>
                <a:schemeClr val="tx2"/>
              </a:buClr>
              <a:buSzPct val="110000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tfrmt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Setup a table </a:t>
            </a:r>
            <a:r>
              <a:rPr lang="en-GB" sz="12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body_plan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Defines the body of the table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frmt_structure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Defines which rows to apply formatting to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frmt_combine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()/</a:t>
            </a: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frmt_when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()/</a:t>
            </a: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frmt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Defines the formatting </a:t>
            </a:r>
            <a:endParaRPr lang="en-GB" sz="1400" kern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col_plan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Sets column appearance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row_grp_plan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Defines the style for each group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4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print_mock_gt</a:t>
            </a:r>
            <a:r>
              <a:rPr lang="en-GB" sz="14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Prints to </a:t>
            </a:r>
            <a:r>
              <a:rPr lang="en-GB" sz="1200" kern="0" dirty="0" err="1">
                <a:solidFill>
                  <a:schemeClr val="tx1"/>
                </a:solidFill>
                <a:cs typeface="Courier New" panose="02070309020205020404" pitchFamily="49" charset="0"/>
              </a:rPr>
              <a:t>gt</a:t>
            </a: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 without data to produce a mock</a:t>
            </a:r>
          </a:p>
          <a:p>
            <a:pPr marL="285750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print_to_gt</a:t>
            </a:r>
            <a:r>
              <a:rPr lang="en-GB" sz="1200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895335" lvl="1" indent="-285750" eaLnBrk="0" hangingPunct="0"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Prints to </a:t>
            </a:r>
            <a:r>
              <a:rPr lang="en-GB" sz="1200" kern="0" dirty="0" err="1">
                <a:solidFill>
                  <a:schemeClr val="tx1"/>
                </a:solidFill>
                <a:cs typeface="Courier New" panose="02070309020205020404" pitchFamily="49" charset="0"/>
              </a:rPr>
              <a:t>gt</a:t>
            </a:r>
            <a:r>
              <a:rPr lang="en-GB" sz="1200" kern="0" dirty="0">
                <a:solidFill>
                  <a:schemeClr val="tx1"/>
                </a:solidFill>
                <a:cs typeface="Courier New" panose="02070309020205020404" pitchFamily="49" charset="0"/>
              </a:rPr>
              <a:t> with data to make final table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7E2054-78F5-057D-8C68-0A6287AADDA0}"/>
              </a:ext>
            </a:extLst>
          </p:cNvPr>
          <p:cNvSpPr txBox="1"/>
          <p:nvPr/>
        </p:nvSpPr>
        <p:spPr>
          <a:xfrm>
            <a:off x="2321149" y="222452"/>
            <a:ext cx="7548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F1115"/>
                </a:solidFill>
                <a:effectLst/>
                <a:latin typeface="quote-cjk-patch"/>
              </a:rPr>
              <a:t>Appendix – Detailed Function Lists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4287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A518480-4B5B-F213-6398-9FE96EE4D3B7}"/>
              </a:ext>
            </a:extLst>
          </p:cNvPr>
          <p:cNvSpPr txBox="1"/>
          <p:nvPr/>
        </p:nvSpPr>
        <p:spPr>
          <a:xfrm>
            <a:off x="1540330" y="235951"/>
            <a:ext cx="9111339" cy="6041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600" b="1" dirty="0">
                <a:solidFill>
                  <a:srgbClr val="0F1115"/>
                </a:solidFill>
                <a:latin typeface="quote-cjk-patch"/>
              </a:rPr>
              <a:t>Appendix – </a:t>
            </a:r>
            <a:r>
              <a:rPr lang="en-US" sz="3600" b="1" dirty="0"/>
              <a:t>CARDINAL</a:t>
            </a:r>
            <a:r>
              <a:rPr lang="en-US" sz="3600" dirty="0"/>
              <a:t> </a:t>
            </a:r>
            <a:r>
              <a:rPr lang="en-US" sz="3600" dirty="0">
                <a:sym typeface="Wingdings" panose="05000000000000000000" pitchFamily="2" charset="2"/>
              </a:rPr>
              <a:t> </a:t>
            </a:r>
            <a:r>
              <a:rPr lang="en-US" sz="3600" dirty="0"/>
              <a:t>QC Table via ARD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sz="2000" dirty="0" err="1"/>
              <a:t>tbl_summary</a:t>
            </a:r>
            <a:r>
              <a:rPr lang="en-US" sz="2000" dirty="0"/>
              <a:t>() </a:t>
            </a:r>
            <a:br>
              <a:rPr lang="en-US" sz="2000" dirty="0"/>
            </a:br>
            <a:r>
              <a:rPr lang="en-US" sz="2000" dirty="0" err="1"/>
              <a:t>tbl_hierarchical</a:t>
            </a:r>
            <a:r>
              <a:rPr lang="en-US" sz="2000" dirty="0"/>
              <a:t>()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dirty="0" err="1"/>
              <a:t>tbl_continuous</a:t>
            </a:r>
            <a:r>
              <a:rPr lang="en-US" sz="2000" dirty="0"/>
              <a:t>()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dirty="0" err="1"/>
              <a:t>tbl_wide_summary</a:t>
            </a:r>
            <a:r>
              <a:rPr lang="en-US" sz="2000" dirty="0"/>
              <a:t>() </a:t>
            </a:r>
            <a:br>
              <a:rPr lang="en-US" sz="2000" dirty="0"/>
            </a:br>
            <a:r>
              <a:rPr lang="en-US" sz="2000" dirty="0" err="1"/>
              <a:t>tbl_ard_summary</a:t>
            </a:r>
            <a:r>
              <a:rPr lang="en-US" sz="2000" dirty="0"/>
              <a:t>() </a:t>
            </a:r>
            <a:br>
              <a:rPr lang="en-US" sz="2000" dirty="0"/>
            </a:br>
            <a:r>
              <a:rPr lang="en-US" sz="2000" dirty="0" err="1"/>
              <a:t>tbl_ard_hierarchical</a:t>
            </a:r>
            <a:r>
              <a:rPr lang="en-US" sz="2000" dirty="0"/>
              <a:t>()</a:t>
            </a:r>
            <a:br>
              <a:rPr lang="en-US" sz="2000" dirty="0"/>
            </a:br>
            <a:r>
              <a:rPr lang="en-US" sz="2000" dirty="0" err="1"/>
              <a:t>tbl_ard_continuous</a:t>
            </a:r>
            <a:r>
              <a:rPr lang="en-US" sz="2000" dirty="0"/>
              <a:t>()</a:t>
            </a:r>
            <a:br>
              <a:rPr lang="en-US" sz="2000" dirty="0"/>
            </a:br>
            <a:r>
              <a:rPr lang="en-US" sz="2000" dirty="0" err="1"/>
              <a:t>tbl_ard_wide_summary</a:t>
            </a:r>
            <a:r>
              <a:rPr lang="en-US" sz="2000" dirty="0"/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3877378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FF14-62C7-F30D-2964-0928862D2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8694549" cy="59522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Appendix – </a:t>
            </a:r>
            <a:r>
              <a:rPr lang="en-US" b="1" dirty="0" err="1">
                <a:latin typeface="quote-cjk-patc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pharmaverse</a:t>
            </a:r>
            <a:r>
              <a:rPr lang="en-US" b="1" dirty="0">
                <a:latin typeface="quote-cjk-patch"/>
              </a:rPr>
              <a:t> </a:t>
            </a:r>
            <a:r>
              <a:rPr lang="en-US" sz="3600" b="1" dirty="0">
                <a:highlight>
                  <a:srgbClr val="C0C0C0"/>
                </a:highlight>
                <a:latin typeface="quote-cjk-patch"/>
                <a:hlinkClick r:id="rId3"/>
              </a:rPr>
              <a:t>SDTM-IG3.4</a:t>
            </a:r>
            <a:endParaRPr lang="en-US" b="1" dirty="0">
              <a:highlight>
                <a:srgbClr val="C0C0C0"/>
              </a:highlight>
              <a:latin typeface="quote-cjk-patch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1AC74-90E5-3A6E-CC57-2B488758D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2642"/>
            <a:ext cx="12192000" cy="599535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hlinkClick r:id="rId4"/>
              </a:rPr>
              <a:t>GitHub - </a:t>
            </a:r>
            <a:r>
              <a:rPr lang="en-US" sz="2400" dirty="0" err="1">
                <a:hlinkClick r:id="rId4"/>
              </a:rPr>
              <a:t>pharmaverse</a:t>
            </a:r>
            <a:r>
              <a:rPr lang="en-US" sz="2400" dirty="0">
                <a:hlinkClick r:id="rId4"/>
              </a:rPr>
              <a:t>/</a:t>
            </a:r>
            <a:r>
              <a:rPr lang="en-US" sz="2400" dirty="0" err="1">
                <a:highlight>
                  <a:srgbClr val="FFFF00"/>
                </a:highlight>
                <a:hlinkClick r:id="rId4"/>
              </a:rPr>
              <a:t>pharmaverse</a:t>
            </a:r>
            <a:r>
              <a:rPr lang="en-US" sz="2400" dirty="0">
                <a:hlinkClick r:id="rId4"/>
              </a:rPr>
              <a:t>: Website: https://pharmaverse.org/ · GitHub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>
                <a:hlinkClick r:id="rId5"/>
              </a:rPr>
              <a:t>GitHub - </a:t>
            </a:r>
            <a:r>
              <a:rPr lang="en-US" sz="2400" dirty="0" err="1">
                <a:hlinkClick r:id="rId5"/>
              </a:rPr>
              <a:t>pharmaverse</a:t>
            </a:r>
            <a:r>
              <a:rPr lang="en-US" sz="2400" dirty="0">
                <a:hlinkClick r:id="rId5"/>
              </a:rPr>
              <a:t>/</a:t>
            </a:r>
            <a:r>
              <a:rPr lang="en-US" sz="2400" dirty="0">
                <a:highlight>
                  <a:srgbClr val="FFFF00"/>
                </a:highlight>
                <a:hlinkClick r:id="rId5"/>
              </a:rPr>
              <a:t>admiral</a:t>
            </a:r>
            <a:r>
              <a:rPr lang="en-US" sz="2400" dirty="0">
                <a:hlinkClick r:id="rId5"/>
              </a:rPr>
              <a:t>: </a:t>
            </a:r>
            <a:r>
              <a:rPr lang="en-US" sz="2400" dirty="0" err="1">
                <a:hlinkClick r:id="rId5"/>
              </a:rPr>
              <a:t>ADaM</a:t>
            </a:r>
            <a:r>
              <a:rPr lang="en-US" sz="2400" dirty="0">
                <a:hlinkClick r:id="rId5"/>
              </a:rPr>
              <a:t> in R Asset Library · GitHub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>
                <a:hlinkClick r:id="rId6"/>
              </a:rPr>
              <a:t>GitHub - </a:t>
            </a:r>
            <a:r>
              <a:rPr lang="en-US" sz="2400" dirty="0" err="1">
                <a:hlinkClick r:id="rId6"/>
              </a:rPr>
              <a:t>pharmaverse</a:t>
            </a:r>
            <a:r>
              <a:rPr lang="en-US" sz="2400" dirty="0">
                <a:hlinkClick r:id="rId6"/>
              </a:rPr>
              <a:t>/</a:t>
            </a:r>
            <a:r>
              <a:rPr lang="en-US" sz="2400" dirty="0" err="1">
                <a:highlight>
                  <a:srgbClr val="FFFF00"/>
                </a:highlight>
                <a:hlinkClick r:id="rId6"/>
              </a:rPr>
              <a:t>admiraltemplate</a:t>
            </a:r>
            <a:r>
              <a:rPr lang="en-US" sz="2400" dirty="0">
                <a:hlinkClick r:id="rId6"/>
              </a:rPr>
              <a:t>: Recommended Structure for admiral R package extensions · GitHub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>
                <a:hlinkClick r:id="rId7"/>
              </a:rPr>
              <a:t>GitHub - </a:t>
            </a:r>
            <a:r>
              <a:rPr lang="en-US" sz="2400" dirty="0" err="1">
                <a:hlinkClick r:id="rId7"/>
              </a:rPr>
              <a:t>pharmaverse</a:t>
            </a:r>
            <a:r>
              <a:rPr lang="en-US" sz="2400" dirty="0">
                <a:hlinkClick r:id="rId7"/>
              </a:rPr>
              <a:t>/</a:t>
            </a:r>
            <a:r>
              <a:rPr lang="en-US" sz="2400" dirty="0" err="1">
                <a:highlight>
                  <a:srgbClr val="FFFF00"/>
                </a:highlight>
                <a:hlinkClick r:id="rId7"/>
              </a:rPr>
              <a:t>metatools</a:t>
            </a:r>
            <a:r>
              <a:rPr lang="en-US" sz="2400" dirty="0">
                <a:hlinkClick r:id="rId7"/>
              </a:rPr>
              <a:t> · GitHub</a:t>
            </a:r>
            <a:endParaRPr lang="en-US" sz="2400" dirty="0">
              <a:hlinkClick r:id="rId8"/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hlinkClick r:id="rId8"/>
              </a:rPr>
              <a:t>GitHub - </a:t>
            </a:r>
            <a:r>
              <a:rPr lang="en-US" sz="2400" dirty="0" err="1">
                <a:hlinkClick r:id="rId8"/>
              </a:rPr>
              <a:t>pharmaverse</a:t>
            </a:r>
            <a:r>
              <a:rPr lang="en-US" sz="2400" dirty="0">
                <a:hlinkClick r:id="rId8"/>
              </a:rPr>
              <a:t>/</a:t>
            </a:r>
            <a:r>
              <a:rPr lang="en-US" sz="2400" dirty="0" err="1">
                <a:hlinkClick r:id="rId8"/>
              </a:rPr>
              <a:t>pharmaversesdtm</a:t>
            </a:r>
            <a:r>
              <a:rPr lang="en-US" sz="2400" dirty="0">
                <a:hlinkClick r:id="rId8"/>
              </a:rPr>
              <a:t>: Test </a:t>
            </a:r>
            <a:r>
              <a:rPr lang="en-US" sz="2400" dirty="0">
                <a:highlight>
                  <a:srgbClr val="FFFF00"/>
                </a:highlight>
                <a:hlinkClick r:id="rId8"/>
              </a:rPr>
              <a:t>SDTM</a:t>
            </a:r>
            <a:r>
              <a:rPr lang="en-US" sz="2400" dirty="0">
                <a:hlinkClick r:id="rId8"/>
              </a:rPr>
              <a:t> data for use within the </a:t>
            </a:r>
            <a:r>
              <a:rPr lang="en-US" sz="2400" dirty="0" err="1">
                <a:hlinkClick r:id="rId8"/>
              </a:rPr>
              <a:t>pharmaverse</a:t>
            </a:r>
            <a:r>
              <a:rPr lang="en-US" sz="2400" dirty="0">
                <a:hlinkClick r:id="rId8"/>
              </a:rPr>
              <a:t> family of packages · GitHub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>
                <a:hlinkClick r:id="rId9"/>
              </a:rPr>
              <a:t>GitHub - </a:t>
            </a:r>
            <a:r>
              <a:rPr lang="en-US" sz="2400" dirty="0" err="1">
                <a:hlinkClick r:id="rId9"/>
              </a:rPr>
              <a:t>pharmaverse</a:t>
            </a:r>
            <a:r>
              <a:rPr lang="en-US" sz="2400" dirty="0">
                <a:hlinkClick r:id="rId9"/>
              </a:rPr>
              <a:t>/</a:t>
            </a:r>
            <a:r>
              <a:rPr lang="en-US" sz="2400" dirty="0" err="1">
                <a:highlight>
                  <a:srgbClr val="FFFF00"/>
                </a:highlight>
                <a:hlinkClick r:id="rId9"/>
              </a:rPr>
              <a:t>sdtmchecks</a:t>
            </a:r>
            <a:r>
              <a:rPr lang="en-US" sz="2400" dirty="0">
                <a:hlinkClick r:id="rId9"/>
              </a:rPr>
              <a:t>: Analysis facing checks for SDTM data · GitHub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>
                <a:hlinkClick r:id="rId10"/>
              </a:rPr>
              <a:t>GitHub - </a:t>
            </a:r>
            <a:r>
              <a:rPr lang="en-US" sz="2400" dirty="0" err="1">
                <a:hlinkClick r:id="rId10"/>
              </a:rPr>
              <a:t>pharmaverse</a:t>
            </a:r>
            <a:r>
              <a:rPr lang="en-US" sz="2400" dirty="0">
                <a:hlinkClick r:id="rId10"/>
              </a:rPr>
              <a:t>/</a:t>
            </a:r>
            <a:r>
              <a:rPr lang="en-US" sz="2400" dirty="0" err="1">
                <a:hlinkClick r:id="rId10"/>
              </a:rPr>
              <a:t>sdtm.oak</a:t>
            </a:r>
            <a:r>
              <a:rPr lang="en-US" sz="2400" dirty="0">
                <a:hlinkClick r:id="rId10"/>
              </a:rPr>
              <a:t>-workshop: </a:t>
            </a:r>
            <a:r>
              <a:rPr lang="en-US" sz="2400" dirty="0" err="1">
                <a:highlight>
                  <a:srgbClr val="FFFF00"/>
                </a:highlight>
                <a:hlinkClick r:id="rId10"/>
              </a:rPr>
              <a:t>sdtm.oak</a:t>
            </a:r>
            <a:r>
              <a:rPr lang="en-US" sz="2400" dirty="0">
                <a:highlight>
                  <a:srgbClr val="FFFF00"/>
                </a:highlight>
                <a:hlinkClick r:id="rId10"/>
              </a:rPr>
              <a:t> </a:t>
            </a:r>
            <a:r>
              <a:rPr lang="en-US" sz="2400" dirty="0">
                <a:hlinkClick r:id="rId10"/>
              </a:rPr>
              <a:t>workshop · GitHub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>
                <a:hlinkClick r:id="rId7"/>
              </a:rPr>
              <a:t>GitHub - </a:t>
            </a:r>
            <a:r>
              <a:rPr lang="en-US" sz="2400" dirty="0" err="1">
                <a:hlinkClick r:id="rId7"/>
              </a:rPr>
              <a:t>pharmaverse</a:t>
            </a:r>
            <a:r>
              <a:rPr lang="en-US" sz="2400" dirty="0">
                <a:hlinkClick r:id="rId7"/>
              </a:rPr>
              <a:t>/</a:t>
            </a:r>
            <a:r>
              <a:rPr lang="en-US" sz="2400" dirty="0" err="1">
                <a:highlight>
                  <a:srgbClr val="FFFF00"/>
                </a:highlight>
                <a:hlinkClick r:id="rId7"/>
              </a:rPr>
              <a:t>metatools</a:t>
            </a:r>
            <a:r>
              <a:rPr lang="en-US" sz="2400" dirty="0">
                <a:hlinkClick r:id="rId7"/>
              </a:rPr>
              <a:t> · GitHub</a:t>
            </a:r>
            <a:endParaRPr lang="en-US" sz="2400" dirty="0">
              <a:hlinkClick r:id="rId11"/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hlinkClick r:id="rId11"/>
              </a:rPr>
              <a:t>GitHub - </a:t>
            </a:r>
            <a:r>
              <a:rPr lang="en-US" sz="2400" dirty="0" err="1">
                <a:hlinkClick r:id="rId11"/>
              </a:rPr>
              <a:t>pharmaverse</a:t>
            </a:r>
            <a:r>
              <a:rPr lang="en-US" sz="2400" dirty="0">
                <a:hlinkClick r:id="rId11"/>
              </a:rPr>
              <a:t>/</a:t>
            </a:r>
            <a:r>
              <a:rPr lang="en-US" sz="2400" dirty="0">
                <a:highlight>
                  <a:srgbClr val="FFFF00"/>
                </a:highlight>
                <a:hlinkClick r:id="rId11"/>
              </a:rPr>
              <a:t>teal</a:t>
            </a:r>
            <a:r>
              <a:rPr lang="en-US" sz="2400" dirty="0">
                <a:hlinkClick r:id="rId11"/>
              </a:rPr>
              <a:t>workshop-phusecss2025 · GitHub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>
                <a:highlight>
                  <a:srgbClr val="FFFF00"/>
                </a:highlight>
                <a:hlinkClick r:id="rId12"/>
              </a:rPr>
              <a:t>Cardinal</a:t>
            </a:r>
            <a:endParaRPr lang="en-US" sz="2400" dirty="0">
              <a:highlight>
                <a:srgbClr val="FFFF00"/>
              </a:highlight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highlight>
                  <a:srgbClr val="FFFF00"/>
                </a:highlight>
                <a:hlinkClick r:id="rId13"/>
              </a:rPr>
              <a:t>R4SUB</a:t>
            </a:r>
            <a:endParaRPr lang="en-US" sz="2400" dirty="0">
              <a:highlight>
                <a:srgbClr val="FFFF00"/>
              </a:highlight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highlight>
                  <a:srgbClr val="FFFF00"/>
                </a:highlight>
                <a:hlinkClick r:id="rId14"/>
              </a:rPr>
              <a:t>RAWDATA</a:t>
            </a:r>
            <a:r>
              <a:rPr lang="en-US" sz="2400" dirty="0">
                <a:highlight>
                  <a:srgbClr val="FFFF00"/>
                </a:highlight>
              </a:rPr>
              <a:t>   	  </a:t>
            </a:r>
            <a:r>
              <a:rPr lang="en-US" sz="2400" dirty="0">
                <a:highlight>
                  <a:srgbClr val="00FFFF"/>
                </a:highlight>
                <a:hlinkClick r:id="rId10"/>
              </a:rPr>
              <a:t>Non_CDASH-raw-data</a:t>
            </a:r>
            <a:r>
              <a:rPr lang="en-US" sz="2400" dirty="0">
                <a:highlight>
                  <a:srgbClr val="00FFFF"/>
                </a:highlight>
              </a:rPr>
              <a:t>	</a:t>
            </a:r>
            <a:r>
              <a:rPr lang="en-US" sz="2400" dirty="0">
                <a:highlight>
                  <a:srgbClr val="00FFFF"/>
                </a:highlight>
                <a:hlinkClick r:id="rId15"/>
              </a:rPr>
              <a:t>CDISC Data</a:t>
            </a:r>
            <a:endParaRPr lang="en-US" sz="2400" dirty="0">
              <a:highlight>
                <a:srgbClr val="00FFFF"/>
              </a:highlight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highlight>
                  <a:srgbClr val="FFFF00"/>
                </a:highlight>
                <a:hlinkClick r:id="rId16"/>
              </a:rPr>
              <a:t>R in Pharma </a:t>
            </a:r>
            <a:r>
              <a:rPr lang="en-US" sz="2400" dirty="0">
                <a:hlinkClick r:id="rId16"/>
              </a:rPr>
              <a:t>- YouTube</a:t>
            </a:r>
            <a:endParaRPr lang="en-US" sz="2400" dirty="0">
              <a:highlight>
                <a:srgbClr val="FFFF00"/>
              </a:highlight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hlinkClick r:id="rId17"/>
              </a:rPr>
              <a:t>GitHub - </a:t>
            </a:r>
            <a:r>
              <a:rPr lang="en-US" sz="2400" dirty="0" err="1">
                <a:hlinkClick r:id="rId17"/>
              </a:rPr>
              <a:t>pharmaverse</a:t>
            </a:r>
            <a:r>
              <a:rPr lang="en-US" sz="2400" dirty="0">
                <a:hlinkClick r:id="rId17"/>
              </a:rPr>
              <a:t>/</a:t>
            </a:r>
            <a:r>
              <a:rPr lang="en-US" sz="2400" dirty="0">
                <a:highlight>
                  <a:srgbClr val="FFFF00"/>
                </a:highlight>
                <a:hlinkClick r:id="rId17"/>
              </a:rPr>
              <a:t>intro-to-r-for-</a:t>
            </a:r>
            <a:r>
              <a:rPr lang="en-US" sz="2400" dirty="0" err="1">
                <a:highlight>
                  <a:srgbClr val="FFFF00"/>
                </a:highlight>
                <a:hlinkClick r:id="rId17"/>
              </a:rPr>
              <a:t>sas</a:t>
            </a:r>
            <a:r>
              <a:rPr lang="en-US" sz="2400" dirty="0">
                <a:highlight>
                  <a:srgbClr val="FFFF00"/>
                </a:highlight>
                <a:hlinkClick r:id="rId17"/>
              </a:rPr>
              <a:t>-programmers</a:t>
            </a:r>
            <a:r>
              <a:rPr lang="en-US" sz="2400" dirty="0">
                <a:hlinkClick r:id="rId17"/>
              </a:rPr>
              <a:t>-workshop · </a:t>
            </a:r>
            <a:r>
              <a:rPr lang="en-US" sz="2400" u="sng" dirty="0" err="1">
                <a:hlinkClick r:id="rId17"/>
              </a:rPr>
              <a:t>GitHub</a:t>
            </a:r>
            <a:r>
              <a:rPr lang="en-US" sz="2400" u="sng" dirty="0" err="1">
                <a:hlinkClick r:id="rId18"/>
              </a:rPr>
              <a:t>GitHub</a:t>
            </a:r>
            <a:r>
              <a:rPr lang="en-US" sz="2400" dirty="0">
                <a:hlinkClick r:id="rId18"/>
              </a:rPr>
              <a:t> - </a:t>
            </a:r>
            <a:r>
              <a:rPr lang="en-US" sz="2400" dirty="0" err="1">
                <a:hlinkClick r:id="rId18"/>
              </a:rPr>
              <a:t>pharmaverse</a:t>
            </a:r>
            <a:r>
              <a:rPr lang="en-US" sz="2400" dirty="0">
                <a:hlinkClick r:id="rId18"/>
              </a:rPr>
              <a:t>/</a:t>
            </a:r>
            <a:r>
              <a:rPr lang="en-US" sz="2400" dirty="0" err="1">
                <a:highlight>
                  <a:srgbClr val="FFFF00"/>
                </a:highlight>
                <a:hlinkClick r:id="rId18"/>
              </a:rPr>
              <a:t>end_to_end_examples</a:t>
            </a:r>
            <a:r>
              <a:rPr lang="en-US" sz="2400" dirty="0">
                <a:hlinkClick r:id="rId18"/>
              </a:rPr>
              <a:t>: Repo of end to end examples of using the </a:t>
            </a:r>
            <a:r>
              <a:rPr lang="en-US" sz="2400" dirty="0" err="1">
                <a:hlinkClick r:id="rId18"/>
              </a:rPr>
              <a:t>pharmaverse</a:t>
            </a:r>
            <a:r>
              <a:rPr lang="en-US" sz="2400" dirty="0">
                <a:hlinkClick r:id="rId18"/>
              </a:rPr>
              <a:t> · GitHub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>
                <a:hlinkClick r:id="rId19"/>
              </a:rPr>
              <a:t>GitHub - </a:t>
            </a:r>
            <a:r>
              <a:rPr lang="en-US" sz="2400" dirty="0" err="1">
                <a:hlinkClick r:id="rId19"/>
              </a:rPr>
              <a:t>pharmaverse</a:t>
            </a:r>
            <a:r>
              <a:rPr lang="en-US" sz="2400" dirty="0">
                <a:hlinkClick r:id="rId19"/>
              </a:rPr>
              <a:t>/</a:t>
            </a:r>
            <a:r>
              <a:rPr lang="en-US" sz="2400" dirty="0">
                <a:highlight>
                  <a:srgbClr val="FFFF00"/>
                </a:highlight>
                <a:hlinkClick r:id="rId19"/>
              </a:rPr>
              <a:t>examples</a:t>
            </a:r>
            <a:r>
              <a:rPr lang="en-US" sz="2400" dirty="0">
                <a:hlinkClick r:id="rId19"/>
              </a:rPr>
              <a:t>: End to end examples of </a:t>
            </a:r>
            <a:r>
              <a:rPr lang="en-US" sz="2400" dirty="0" err="1">
                <a:hlinkClick r:id="rId19"/>
              </a:rPr>
              <a:t>pharmaverse</a:t>
            </a:r>
            <a:r>
              <a:rPr lang="en-US" sz="2400" dirty="0">
                <a:hlinkClick r:id="rId19"/>
              </a:rPr>
              <a:t> packages for common </a:t>
            </a:r>
            <a:r>
              <a:rPr lang="en-US" sz="2400" dirty="0">
                <a:highlight>
                  <a:srgbClr val="FFFF00"/>
                </a:highlight>
                <a:hlinkClick r:id="rId19"/>
              </a:rPr>
              <a:t>safety clinical reporting analyses </a:t>
            </a:r>
            <a:r>
              <a:rPr lang="en-US" sz="2400" dirty="0">
                <a:hlinkClick r:id="rId19"/>
              </a:rPr>
              <a:t>· GitHub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>
                <a:hlinkClick r:id="rId20"/>
              </a:rPr>
              <a:t>GitHub - </a:t>
            </a:r>
            <a:r>
              <a:rPr lang="en-US" sz="2400" dirty="0" err="1">
                <a:hlinkClick r:id="rId20"/>
              </a:rPr>
              <a:t>pharmaverse</a:t>
            </a:r>
            <a:r>
              <a:rPr lang="en-US" sz="2400" dirty="0">
                <a:hlinkClick r:id="rId20"/>
              </a:rPr>
              <a:t>/</a:t>
            </a:r>
            <a:r>
              <a:rPr lang="en-US" sz="2400" dirty="0" err="1">
                <a:hlinkClick r:id="rId20"/>
              </a:rPr>
              <a:t>pharmaverse</a:t>
            </a:r>
            <a:r>
              <a:rPr lang="en-US" sz="2400" dirty="0" err="1">
                <a:highlight>
                  <a:srgbClr val="FFFF00"/>
                </a:highlight>
                <a:hlinkClick r:id="rId20"/>
              </a:rPr>
              <a:t>raw</a:t>
            </a:r>
            <a:r>
              <a:rPr lang="en-US" sz="2400" dirty="0">
                <a:hlinkClick r:id="rId20"/>
              </a:rPr>
              <a:t>: Test raw data for use within the </a:t>
            </a:r>
            <a:r>
              <a:rPr lang="en-US" sz="2400" dirty="0" err="1">
                <a:hlinkClick r:id="rId20"/>
              </a:rPr>
              <a:t>pharmaverse</a:t>
            </a:r>
            <a:r>
              <a:rPr lang="en-US" sz="2400" dirty="0">
                <a:hlinkClick r:id="rId20"/>
              </a:rPr>
              <a:t> family of packages · GitHub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5246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46028</TotalTime>
  <Words>2067</Words>
  <Application>Microsoft Office PowerPoint</Application>
  <PresentationFormat>Widescreen</PresentationFormat>
  <Paragraphs>396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Consolas</vt:lpstr>
      <vt:lpstr>Courier New</vt:lpstr>
      <vt:lpstr>Lato</vt:lpstr>
      <vt:lpstr>Mona Sans VF</vt:lpstr>
      <vt:lpstr>quote-cjk-patch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SDTM</vt:lpstr>
      <vt:lpstr>PowerPoint Presentation</vt:lpstr>
      <vt:lpstr>PowerPoint Presentation</vt:lpstr>
      <vt:lpstr>PowerPoint Presentation</vt:lpstr>
      <vt:lpstr>Value formatting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This Means for You</vt:lpstr>
      <vt:lpstr> </vt:lpstr>
      <vt:lpstr>PowerPoint Presentation</vt:lpstr>
      <vt:lpstr>Appendix – pharmaverse SDTM-IG3.4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Fuxi Ma</dc:creator>
  <cp:lastModifiedBy>Fuxi Ma</cp:lastModifiedBy>
  <cp:revision>453</cp:revision>
  <cp:lastPrinted>2025-10-23T14:54:58Z</cp:lastPrinted>
  <dcterms:created xsi:type="dcterms:W3CDTF">2025-08-19T11:12:12Z</dcterms:created>
  <dcterms:modified xsi:type="dcterms:W3CDTF">2026-04-20T13:00:57Z</dcterms:modified>
</cp:coreProperties>
</file>